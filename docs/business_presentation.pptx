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96" r:id="rId1"/>
  </p:sldMasterIdLst>
  <p:notesMasterIdLst>
    <p:notesMasterId r:id="rId13"/>
  </p:notesMasterIdLst>
  <p:sldIdLst>
    <p:sldId id="256" r:id="rId2"/>
    <p:sldId id="263" r:id="rId3"/>
    <p:sldId id="262" r:id="rId4"/>
    <p:sldId id="257" r:id="rId5"/>
    <p:sldId id="258" r:id="rId6"/>
    <p:sldId id="259" r:id="rId7"/>
    <p:sldId id="261" r:id="rId8"/>
    <p:sldId id="260"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CC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9"/>
    <p:restoredTop sz="94745"/>
  </p:normalViewPr>
  <p:slideViewPr>
    <p:cSldViewPr snapToGrid="0">
      <p:cViewPr varScale="1">
        <p:scale>
          <a:sx n="92" d="100"/>
          <a:sy n="92" d="100"/>
        </p:scale>
        <p:origin x="192"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Users/mac/LegacyFolder/Hamzat/10alytics/Excel%20Capstone/Cafe_Harmony_Capstone_Project%20clean.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clean.xlsx]PIVOT_TABLES!PivotTable5</c:name>
    <c:fmtId val="5"/>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bg1"/>
                </a:solidFill>
                <a:latin typeface="Book Antiqua" panose="02040602050305030304" pitchFamily="18" charset="0"/>
              </a:rPr>
              <a:t>Trend</a:t>
            </a:r>
            <a:r>
              <a:rPr lang="en-US" b="1" baseline="0">
                <a:solidFill>
                  <a:schemeClr val="bg1"/>
                </a:solidFill>
                <a:latin typeface="Book Antiqua" panose="02040602050305030304" pitchFamily="18" charset="0"/>
              </a:rPr>
              <a:t> of Total Sales by Month</a:t>
            </a:r>
            <a:endParaRPr lang="en-US" b="1">
              <a:solidFill>
                <a:schemeClr val="bg1"/>
              </a:solidFill>
              <a:latin typeface="Book Antiqua" panose="0204060205030503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270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2700"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2700" cap="rnd">
            <a:solidFill>
              <a:schemeClr val="accent6">
                <a:lumMod val="40000"/>
                <a:lumOff val="6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12700" cap="rnd">
            <a:solidFill>
              <a:schemeClr val="accent6">
                <a:lumMod val="40000"/>
                <a:lumOff val="6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12700" cap="rnd">
            <a:solidFill>
              <a:schemeClr val="accent6">
                <a:lumMod val="40000"/>
                <a:lumOff val="60000"/>
              </a:schemeClr>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cked"/>
        <c:varyColors val="0"/>
        <c:ser>
          <c:idx val="0"/>
          <c:order val="0"/>
          <c:tx>
            <c:strRef>
              <c:f>PIVOT_TABLES!$K$2</c:f>
              <c:strCache>
                <c:ptCount val="1"/>
                <c:pt idx="0">
                  <c:v>Total</c:v>
                </c:pt>
              </c:strCache>
            </c:strRef>
          </c:tx>
          <c:spPr>
            <a:ln w="22225" cap="rnd">
              <a:solidFill>
                <a:schemeClr val="accent1">
                  <a:lumMod val="75000"/>
                </a:schemeClr>
              </a:solidFill>
              <a:round/>
            </a:ln>
            <a:effectLst/>
          </c:spPr>
          <c:marker>
            <c:symbol val="none"/>
          </c:marker>
          <c:cat>
            <c:strRef>
              <c:f>PIVOT_TABLES!$J$3:$J$15</c:f>
              <c:strCache>
                <c:ptCount val="12"/>
                <c:pt idx="0">
                  <c:v>January</c:v>
                </c:pt>
                <c:pt idx="1">
                  <c:v>February</c:v>
                </c:pt>
                <c:pt idx="2">
                  <c:v>March</c:v>
                </c:pt>
                <c:pt idx="3">
                  <c:v>April</c:v>
                </c:pt>
                <c:pt idx="4">
                  <c:v>May</c:v>
                </c:pt>
                <c:pt idx="5">
                  <c:v>June</c:v>
                </c:pt>
                <c:pt idx="6">
                  <c:v>July</c:v>
                </c:pt>
                <c:pt idx="7">
                  <c:v>August</c:v>
                </c:pt>
                <c:pt idx="8">
                  <c:v>September</c:v>
                </c:pt>
                <c:pt idx="9">
                  <c:v>October</c:v>
                </c:pt>
                <c:pt idx="10">
                  <c:v>November</c:v>
                </c:pt>
                <c:pt idx="11">
                  <c:v>December</c:v>
                </c:pt>
              </c:strCache>
            </c:strRef>
          </c:cat>
          <c:val>
            <c:numRef>
              <c:f>PIVOT_TABLES!$K$3:$K$15</c:f>
              <c:numCache>
                <c:formatCode>General</c:formatCode>
                <c:ptCount val="12"/>
                <c:pt idx="0">
                  <c:v>1171.5100000000004</c:v>
                </c:pt>
                <c:pt idx="1">
                  <c:v>992.86999999999955</c:v>
                </c:pt>
                <c:pt idx="2">
                  <c:v>1156.3900000000003</c:v>
                </c:pt>
                <c:pt idx="3">
                  <c:v>1118.6500000000005</c:v>
                </c:pt>
                <c:pt idx="4">
                  <c:v>1177.7599999999998</c:v>
                </c:pt>
                <c:pt idx="5">
                  <c:v>1024.3</c:v>
                </c:pt>
                <c:pt idx="6">
                  <c:v>1134.3399999999999</c:v>
                </c:pt>
                <c:pt idx="7">
                  <c:v>1220.3499999999997</c:v>
                </c:pt>
                <c:pt idx="8">
                  <c:v>1076.93</c:v>
                </c:pt>
                <c:pt idx="9">
                  <c:v>839.18000000000018</c:v>
                </c:pt>
                <c:pt idx="10">
                  <c:v>782.85999999999979</c:v>
                </c:pt>
                <c:pt idx="11">
                  <c:v>894.81000000000006</c:v>
                </c:pt>
              </c:numCache>
            </c:numRef>
          </c:val>
          <c:smooth val="1"/>
          <c:extLst>
            <c:ext xmlns:c16="http://schemas.microsoft.com/office/drawing/2014/chart" uri="{C3380CC4-5D6E-409C-BE32-E72D297353CC}">
              <c16:uniqueId val="{00000000-1FC2-FF47-9E79-5B965A5D0767}"/>
            </c:ext>
          </c:extLst>
        </c:ser>
        <c:dLbls>
          <c:showLegendKey val="0"/>
          <c:showVal val="0"/>
          <c:showCatName val="0"/>
          <c:showSerName val="0"/>
          <c:showPercent val="0"/>
          <c:showBubbleSize val="0"/>
        </c:dLbls>
        <c:smooth val="0"/>
        <c:axId val="2043614815"/>
        <c:axId val="1837487087"/>
      </c:lineChart>
      <c:catAx>
        <c:axId val="20436148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1837487087"/>
        <c:crosses val="autoZero"/>
        <c:auto val="1"/>
        <c:lblAlgn val="ctr"/>
        <c:lblOffset val="100"/>
        <c:noMultiLvlLbl val="0"/>
      </c:catAx>
      <c:valAx>
        <c:axId val="1837487087"/>
        <c:scaling>
          <c:orientation val="minMax"/>
          <c:min val="700"/>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20436148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clean.xlsx]PIVOT_TABLES!PivotTable22</c:name>
    <c:fmtId val="5"/>
  </c:pivotSource>
  <c:chart>
    <c:title>
      <c:tx>
        <c:rich>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r>
              <a:rPr lang="en-US" sz="1600" b="1">
                <a:solidFill>
                  <a:schemeClr val="bg1"/>
                </a:solidFill>
                <a:latin typeface="Book Antiqua" panose="02040602050305030304" pitchFamily="18" charset="0"/>
              </a:rPr>
              <a:t>Revenue by Menu</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PIVOT_TABLES!$E$2</c:f>
              <c:strCache>
                <c:ptCount val="1"/>
                <c:pt idx="0">
                  <c:v>Total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PIVOT_TABLES!$D$3:$D$9</c:f>
              <c:strCache>
                <c:ptCount val="6"/>
                <c:pt idx="0">
                  <c:v>Cappuccino</c:v>
                </c:pt>
                <c:pt idx="1">
                  <c:v>Croissant</c:v>
                </c:pt>
                <c:pt idx="2">
                  <c:v>Iced Tea</c:v>
                </c:pt>
                <c:pt idx="3">
                  <c:v>Latte</c:v>
                </c:pt>
                <c:pt idx="4">
                  <c:v>Muffin</c:v>
                </c:pt>
                <c:pt idx="5">
                  <c:v>Sandwich</c:v>
                </c:pt>
              </c:strCache>
            </c:strRef>
          </c:cat>
          <c:val>
            <c:numRef>
              <c:f>PIVOT_TABLES!$E$3:$E$9</c:f>
              <c:numCache>
                <c:formatCode>General</c:formatCode>
                <c:ptCount val="6"/>
                <c:pt idx="0">
                  <c:v>2315.0600000000018</c:v>
                </c:pt>
                <c:pt idx="1">
                  <c:v>1845.26</c:v>
                </c:pt>
                <c:pt idx="2">
                  <c:v>2234.5600000000004</c:v>
                </c:pt>
                <c:pt idx="3">
                  <c:v>1957.2200000000003</c:v>
                </c:pt>
                <c:pt idx="4">
                  <c:v>2401.0700000000011</c:v>
                </c:pt>
                <c:pt idx="5">
                  <c:v>1836.7799999999995</c:v>
                </c:pt>
              </c:numCache>
            </c:numRef>
          </c:val>
          <c:extLst>
            <c:ext xmlns:c16="http://schemas.microsoft.com/office/drawing/2014/chart" uri="{C3380CC4-5D6E-409C-BE32-E72D297353CC}">
              <c16:uniqueId val="{00000000-2946-C84F-B03B-7460D28A14E5}"/>
            </c:ext>
          </c:extLst>
        </c:ser>
        <c:dLbls>
          <c:showLegendKey val="0"/>
          <c:showVal val="0"/>
          <c:showCatName val="0"/>
          <c:showSerName val="0"/>
          <c:showPercent val="0"/>
          <c:showBubbleSize val="0"/>
        </c:dLbls>
        <c:gapWidth val="219"/>
        <c:overlap val="-27"/>
        <c:axId val="150674559"/>
        <c:axId val="155739631"/>
      </c:barChart>
      <c:catAx>
        <c:axId val="1506745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bg1"/>
                </a:solidFill>
                <a:latin typeface="Book Antiqua" panose="02040602050305030304" pitchFamily="18" charset="0"/>
                <a:ea typeface="+mn-ea"/>
                <a:cs typeface="+mn-cs"/>
              </a:defRPr>
            </a:pPr>
            <a:endParaRPr lang="en-US"/>
          </a:p>
        </c:txPr>
        <c:crossAx val="155739631"/>
        <c:crosses val="autoZero"/>
        <c:auto val="1"/>
        <c:lblAlgn val="ctr"/>
        <c:lblOffset val="100"/>
        <c:noMultiLvlLbl val="0"/>
      </c:catAx>
      <c:valAx>
        <c:axId val="155739631"/>
        <c:scaling>
          <c:orientation val="minMax"/>
        </c:scaling>
        <c:delete val="1"/>
        <c:axPos val="l"/>
        <c:numFmt formatCode="General" sourceLinked="1"/>
        <c:majorTickMark val="none"/>
        <c:minorTickMark val="none"/>
        <c:tickLblPos val="nextTo"/>
        <c:crossAx val="15067455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clean.xlsx]PIVOT_TABLES!PivotTable23</c:name>
    <c:fmtId val="6"/>
  </c:pivotSource>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Book Antiqua" panose="02040602050305030304" pitchFamily="18" charset="0"/>
                <a:ea typeface="+mn-ea"/>
                <a:cs typeface="+mn-cs"/>
              </a:defRPr>
            </a:pPr>
            <a:r>
              <a:rPr lang="en-US" sz="1600" b="1">
                <a:solidFill>
                  <a:schemeClr val="bg1"/>
                </a:solidFill>
                <a:latin typeface="Book Antiqua" panose="02040602050305030304" pitchFamily="18" charset="0"/>
              </a:rPr>
              <a:t>Spending by Gender</a:t>
            </a:r>
          </a:p>
        </c:rich>
      </c:tx>
      <c:layout>
        <c:manualLayout>
          <c:xMode val="edge"/>
          <c:yMode val="edge"/>
          <c:x val="0.14551816167999992"/>
          <c:y val="6.1429846504303144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Book Antiqua" panose="02040602050305030304" pitchFamily="18" charset="0"/>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lumMod val="40000"/>
              <a:lumOff val="60000"/>
            </a:schemeClr>
          </a:solidFill>
          <a:ln>
            <a:noFill/>
          </a:ln>
          <a:effectLst/>
        </c:spPr>
      </c:pivotFmt>
      <c:pivotFmt>
        <c:idx val="2"/>
        <c:spPr>
          <a:solidFill>
            <a:schemeClr val="accent3">
              <a:lumMod val="60000"/>
              <a:lumOff val="40000"/>
            </a:schemeClr>
          </a:solidFill>
          <a:ln>
            <a:noFill/>
          </a:ln>
          <a:effectLst/>
        </c:spPr>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5">
              <a:lumMod val="40000"/>
              <a:lumOff val="60000"/>
            </a:schemeClr>
          </a:solidFill>
          <a:ln>
            <a:noFill/>
          </a:ln>
          <a:effectLst/>
        </c:spPr>
      </c:pivotFmt>
      <c:pivotFmt>
        <c:idx val="5"/>
        <c:spPr>
          <a:solidFill>
            <a:schemeClr val="accent3">
              <a:lumMod val="60000"/>
              <a:lumOff val="40000"/>
            </a:schemeClr>
          </a:solidFill>
          <a:ln>
            <a:noFill/>
          </a:ln>
          <a:effectLst/>
        </c:spPr>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7"/>
        <c:spPr>
          <a:solidFill>
            <a:schemeClr val="accent3">
              <a:lumMod val="60000"/>
              <a:lumOff val="40000"/>
            </a:schemeClr>
          </a:solidFill>
          <a:ln>
            <a:noFill/>
          </a:ln>
          <a:effectLst/>
        </c:spPr>
        <c:dLbl>
          <c:idx val="0"/>
          <c:layout>
            <c:manualLayout>
              <c:x val="0.125"/>
              <c:y val="-0.23148148148148151"/>
            </c:manualLayout>
          </c:layout>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8"/>
        <c:spPr>
          <a:solidFill>
            <a:schemeClr val="accent6">
              <a:lumMod val="40000"/>
              <a:lumOff val="60000"/>
            </a:schemeClr>
          </a:solidFill>
          <a:ln>
            <a:noFill/>
          </a:ln>
          <a:effectLst/>
        </c:spPr>
        <c:dLbl>
          <c:idx val="0"/>
          <c:layout>
            <c:manualLayout>
              <c:x val="-6.3888888888888912E-2"/>
              <c:y val="0.29629629629629628"/>
            </c:manualLayout>
          </c:layout>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0"/>
        <c:spPr>
          <a:solidFill>
            <a:schemeClr val="accent3">
              <a:lumMod val="60000"/>
              <a:lumOff val="40000"/>
            </a:schemeClr>
          </a:solidFill>
          <a:ln>
            <a:noFill/>
          </a:ln>
          <a:effectLst/>
        </c:spPr>
        <c:dLbl>
          <c:idx val="0"/>
          <c:layout>
            <c:manualLayout>
              <c:x val="0.125"/>
              <c:y val="-0.23148148148148151"/>
            </c:manualLayout>
          </c:layout>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1"/>
        <c:spPr>
          <a:solidFill>
            <a:schemeClr val="accent6">
              <a:lumMod val="40000"/>
              <a:lumOff val="60000"/>
            </a:schemeClr>
          </a:solidFill>
          <a:ln>
            <a:noFill/>
          </a:ln>
          <a:effectLst/>
        </c:spPr>
        <c:dLbl>
          <c:idx val="0"/>
          <c:layout>
            <c:manualLayout>
              <c:x val="-6.3888888888888912E-2"/>
              <c:y val="0.29629629629629628"/>
            </c:manualLayout>
          </c:layout>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3"/>
        <c:spPr>
          <a:solidFill>
            <a:schemeClr val="accent3">
              <a:lumMod val="60000"/>
              <a:lumOff val="40000"/>
            </a:schemeClr>
          </a:solidFill>
          <a:ln>
            <a:noFill/>
          </a:ln>
          <a:effectLst/>
        </c:spPr>
        <c:dLbl>
          <c:idx val="0"/>
          <c:layout>
            <c:manualLayout>
              <c:x val="0.125"/>
              <c:y val="-0.23148148148148151"/>
            </c:manualLayout>
          </c:layout>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
        <c:idx val="14"/>
        <c:spPr>
          <a:solidFill>
            <a:schemeClr val="accent6">
              <a:lumMod val="40000"/>
              <a:lumOff val="60000"/>
            </a:schemeClr>
          </a:solidFill>
          <a:ln>
            <a:noFill/>
          </a:ln>
          <a:effectLst/>
        </c:spPr>
        <c:dLbl>
          <c:idx val="0"/>
          <c:layout>
            <c:manualLayout>
              <c:x val="-6.3888888888888912E-2"/>
              <c:y val="0.29629629629629628"/>
            </c:manualLayout>
          </c:layout>
          <c:spPr>
            <a:noFill/>
            <a:ln>
              <a:noFill/>
            </a:ln>
            <a:effectLst/>
          </c:spPr>
          <c:txPr>
            <a:bodyPr rot="0" spcFirstLastPara="1" vertOverflow="ellipsis" vert="horz" wrap="square" lIns="38100" tIns="19050" rIns="38100" bIns="19050" anchor="ctr" anchorCtr="1">
              <a:spAutoFit/>
            </a:bodyPr>
            <a:lstStyle/>
            <a:p>
              <a:pPr>
                <a:defRPr sz="95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6.6335786142283859E-2"/>
          <c:y val="0.21255057842832256"/>
          <c:w val="0.79060892930388837"/>
          <c:h val="0.66636439685972049"/>
        </c:manualLayout>
      </c:layout>
      <c:doughnutChart>
        <c:varyColors val="1"/>
        <c:ser>
          <c:idx val="0"/>
          <c:order val="0"/>
          <c:tx>
            <c:strRef>
              <c:f>PIVOT_TABLES!$E$21</c:f>
              <c:strCache>
                <c:ptCount val="1"/>
                <c:pt idx="0">
                  <c:v>Total</c:v>
                </c:pt>
              </c:strCache>
            </c:strRef>
          </c:tx>
          <c:dPt>
            <c:idx val="0"/>
            <c:bubble3D val="0"/>
            <c:spPr>
              <a:solidFill>
                <a:schemeClr val="accent3">
                  <a:lumMod val="60000"/>
                  <a:lumOff val="40000"/>
                </a:schemeClr>
              </a:solidFill>
              <a:ln>
                <a:noFill/>
              </a:ln>
              <a:effectLst/>
            </c:spPr>
            <c:extLst>
              <c:ext xmlns:c16="http://schemas.microsoft.com/office/drawing/2014/chart" uri="{C3380CC4-5D6E-409C-BE32-E72D297353CC}">
                <c16:uniqueId val="{00000001-9BC3-DA46-9207-1429543A4A5D}"/>
              </c:ext>
            </c:extLst>
          </c:dPt>
          <c:dPt>
            <c:idx val="1"/>
            <c:bubble3D val="0"/>
            <c:spPr>
              <a:solidFill>
                <a:schemeClr val="accent6">
                  <a:lumMod val="40000"/>
                  <a:lumOff val="60000"/>
                </a:schemeClr>
              </a:solidFill>
              <a:ln>
                <a:noFill/>
              </a:ln>
              <a:effectLst/>
            </c:spPr>
            <c:extLst>
              <c:ext xmlns:c16="http://schemas.microsoft.com/office/drawing/2014/chart" uri="{C3380CC4-5D6E-409C-BE32-E72D297353CC}">
                <c16:uniqueId val="{00000003-9BC3-DA46-9207-1429543A4A5D}"/>
              </c:ext>
            </c:extLst>
          </c:dPt>
          <c:dLbls>
            <c:dLbl>
              <c:idx val="0"/>
              <c:layout>
                <c:manualLayout>
                  <c:x val="0.125"/>
                  <c:y val="-0.23148148148148151"/>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9BC3-DA46-9207-1429543A4A5D}"/>
                </c:ext>
              </c:extLst>
            </c:dLbl>
            <c:dLbl>
              <c:idx val="1"/>
              <c:layout>
                <c:manualLayout>
                  <c:x val="-6.3888888888888912E-2"/>
                  <c:y val="0.29629629629629628"/>
                </c:manualLayout>
              </c:layout>
              <c:showLegendKey val="0"/>
              <c:showVal val="1"/>
              <c:showCatName val="1"/>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3-9BC3-DA46-9207-1429543A4A5D}"/>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1"/>
            <c:showSerName val="0"/>
            <c:showPercent val="0"/>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PIVOT_TABLES!$D$22:$D$24</c:f>
              <c:strCache>
                <c:ptCount val="2"/>
                <c:pt idx="0">
                  <c:v>Female</c:v>
                </c:pt>
                <c:pt idx="1">
                  <c:v>Male</c:v>
                </c:pt>
              </c:strCache>
            </c:strRef>
          </c:cat>
          <c:val>
            <c:numRef>
              <c:f>PIVOT_TABLES!$E$22:$E$24</c:f>
              <c:numCache>
                <c:formatCode>0%</c:formatCode>
                <c:ptCount val="2"/>
                <c:pt idx="0">
                  <c:v>0.54194496403877679</c:v>
                </c:pt>
                <c:pt idx="1">
                  <c:v>0.45805503596122321</c:v>
                </c:pt>
              </c:numCache>
            </c:numRef>
          </c:val>
          <c:extLst>
            <c:ext xmlns:c16="http://schemas.microsoft.com/office/drawing/2014/chart" uri="{C3380CC4-5D6E-409C-BE32-E72D297353CC}">
              <c16:uniqueId val="{00000004-9BC3-DA46-9207-1429543A4A5D}"/>
            </c:ext>
          </c:extLst>
        </c:ser>
        <c:dLbls>
          <c:showLegendKey val="0"/>
          <c:showVal val="0"/>
          <c:showCatName val="0"/>
          <c:showSerName val="0"/>
          <c:showPercent val="0"/>
          <c:showBubbleSize val="0"/>
          <c:showLeaderLines val="1"/>
        </c:dLbls>
        <c:firstSliceAng val="0"/>
        <c:holeSize val="71"/>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clean.xlsx]PIVOT_TABLES!PivotTable31</c:name>
    <c:fmtId val="5"/>
  </c:pivotSource>
  <c:chart>
    <c:title>
      <c:tx>
        <c:rich>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r>
              <a:rPr lang="en-US" sz="1600" b="1">
                <a:solidFill>
                  <a:schemeClr val="bg1"/>
                </a:solidFill>
                <a:latin typeface="Book Antiqua" panose="02040602050305030304" pitchFamily="18" charset="0"/>
              </a:rPr>
              <a:t>Spending by Age Group</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PIVOT_TABLES!$H$2</c:f>
              <c:strCache>
                <c:ptCount val="1"/>
                <c:pt idx="0">
                  <c:v>Total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PIVOT_TABLES!$G$3:$G$8</c:f>
              <c:strCache>
                <c:ptCount val="5"/>
                <c:pt idx="0">
                  <c:v>58-65</c:v>
                </c:pt>
                <c:pt idx="1">
                  <c:v>48-57</c:v>
                </c:pt>
                <c:pt idx="2">
                  <c:v>38-47</c:v>
                </c:pt>
                <c:pt idx="3">
                  <c:v>18-27</c:v>
                </c:pt>
                <c:pt idx="4">
                  <c:v>28-37</c:v>
                </c:pt>
              </c:strCache>
            </c:strRef>
          </c:cat>
          <c:val>
            <c:numRef>
              <c:f>PIVOT_TABLES!$H$3:$H$8</c:f>
              <c:numCache>
                <c:formatCode>0%</c:formatCode>
                <c:ptCount val="5"/>
                <c:pt idx="0">
                  <c:v>0.17663294929685974</c:v>
                </c:pt>
                <c:pt idx="1">
                  <c:v>0.19761317558846533</c:v>
                </c:pt>
                <c:pt idx="2">
                  <c:v>0.19950674943109384</c:v>
                </c:pt>
                <c:pt idx="3">
                  <c:v>0.2025973097589745</c:v>
                </c:pt>
                <c:pt idx="4">
                  <c:v>0.22364981592460648</c:v>
                </c:pt>
              </c:numCache>
            </c:numRef>
          </c:val>
          <c:extLst>
            <c:ext xmlns:c16="http://schemas.microsoft.com/office/drawing/2014/chart" uri="{C3380CC4-5D6E-409C-BE32-E72D297353CC}">
              <c16:uniqueId val="{00000000-3704-A54B-A261-B7D0E5F64B55}"/>
            </c:ext>
          </c:extLst>
        </c:ser>
        <c:dLbls>
          <c:showLegendKey val="0"/>
          <c:showVal val="0"/>
          <c:showCatName val="0"/>
          <c:showSerName val="0"/>
          <c:showPercent val="0"/>
          <c:showBubbleSize val="0"/>
        </c:dLbls>
        <c:gapWidth val="219"/>
        <c:axId val="25580079"/>
        <c:axId val="64135999"/>
      </c:barChart>
      <c:catAx>
        <c:axId val="25580079"/>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64135999"/>
        <c:crosses val="autoZero"/>
        <c:auto val="1"/>
        <c:lblAlgn val="ctr"/>
        <c:lblOffset val="100"/>
        <c:noMultiLvlLbl val="0"/>
      </c:catAx>
      <c:valAx>
        <c:axId val="64135999"/>
        <c:scaling>
          <c:orientation val="minMax"/>
        </c:scaling>
        <c:delete val="1"/>
        <c:axPos val="b"/>
        <c:numFmt formatCode="0%" sourceLinked="1"/>
        <c:majorTickMark val="none"/>
        <c:minorTickMark val="none"/>
        <c:tickLblPos val="nextTo"/>
        <c:crossAx val="25580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clean.xlsx]PIVOT_TABLES!PivotTable32</c:name>
    <c:fmtId val="5"/>
  </c:pivotSource>
  <c:chart>
    <c:title>
      <c:tx>
        <c:rich>
          <a:bodyPr rot="0" spcFirstLastPara="1" vertOverflow="ellipsis" vert="horz" wrap="square" anchor="ctr" anchorCtr="1"/>
          <a:lstStyle/>
          <a:p>
            <a:pPr>
              <a:defRPr sz="1500" b="1" i="0" u="none" strike="noStrike" kern="1200" spc="0" baseline="0">
                <a:solidFill>
                  <a:schemeClr val="bg1"/>
                </a:solidFill>
                <a:latin typeface="Book Antiqua" panose="02040602050305030304" pitchFamily="18" charset="0"/>
                <a:ea typeface="+mn-ea"/>
                <a:cs typeface="+mn-cs"/>
              </a:defRPr>
            </a:pPr>
            <a:r>
              <a:rPr lang="en-US" sz="1500" b="1">
                <a:solidFill>
                  <a:schemeClr val="bg1"/>
                </a:solidFill>
                <a:latin typeface="Book Antiqua" panose="02040602050305030304" pitchFamily="18" charset="0"/>
              </a:rPr>
              <a:t>Spending by Preferred Item</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PIVOT_TABLES!$H$17</c:f>
              <c:strCache>
                <c:ptCount val="1"/>
                <c:pt idx="0">
                  <c:v>Total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PIVOT_TABLES!$G$18:$G$24</c:f>
              <c:strCache>
                <c:ptCount val="6"/>
                <c:pt idx="0">
                  <c:v>Sandwich</c:v>
                </c:pt>
                <c:pt idx="1">
                  <c:v>Croissant</c:v>
                </c:pt>
                <c:pt idx="2">
                  <c:v>Latte</c:v>
                </c:pt>
                <c:pt idx="3">
                  <c:v>Iced Tea</c:v>
                </c:pt>
                <c:pt idx="4">
                  <c:v>Cappuccino</c:v>
                </c:pt>
                <c:pt idx="5">
                  <c:v>Muffin</c:v>
                </c:pt>
              </c:strCache>
            </c:strRef>
          </c:cat>
          <c:val>
            <c:numRef>
              <c:f>PIVOT_TABLES!$H$18:$H$24</c:f>
              <c:numCache>
                <c:formatCode>0%</c:formatCode>
                <c:ptCount val="6"/>
                <c:pt idx="0">
                  <c:v>0.14589255715868601</c:v>
                </c:pt>
                <c:pt idx="1">
                  <c:v>0.14656611027049349</c:v>
                </c:pt>
                <c:pt idx="2">
                  <c:v>0.15545891762874356</c:v>
                </c:pt>
                <c:pt idx="3">
                  <c:v>0.17748759923589846</c:v>
                </c:pt>
                <c:pt idx="4">
                  <c:v>0.18388158809208943</c:v>
                </c:pt>
                <c:pt idx="5">
                  <c:v>0.19071322761408907</c:v>
                </c:pt>
              </c:numCache>
            </c:numRef>
          </c:val>
          <c:extLst>
            <c:ext xmlns:c16="http://schemas.microsoft.com/office/drawing/2014/chart" uri="{C3380CC4-5D6E-409C-BE32-E72D297353CC}">
              <c16:uniqueId val="{00000000-9CEC-A44C-9C8E-F62C870E6A5C}"/>
            </c:ext>
          </c:extLst>
        </c:ser>
        <c:dLbls>
          <c:showLegendKey val="0"/>
          <c:showVal val="0"/>
          <c:showCatName val="0"/>
          <c:showSerName val="0"/>
          <c:showPercent val="0"/>
          <c:showBubbleSize val="0"/>
        </c:dLbls>
        <c:gapWidth val="219"/>
        <c:axId val="36838655"/>
        <c:axId val="48684031"/>
      </c:barChart>
      <c:catAx>
        <c:axId val="36838655"/>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48684031"/>
        <c:crosses val="autoZero"/>
        <c:auto val="1"/>
        <c:lblAlgn val="ctr"/>
        <c:lblOffset val="100"/>
        <c:noMultiLvlLbl val="0"/>
      </c:catAx>
      <c:valAx>
        <c:axId val="48684031"/>
        <c:scaling>
          <c:orientation val="minMax"/>
        </c:scaling>
        <c:delete val="1"/>
        <c:axPos val="b"/>
        <c:numFmt formatCode="0%" sourceLinked="1"/>
        <c:majorTickMark val="none"/>
        <c:minorTickMark val="none"/>
        <c:tickLblPos val="nextTo"/>
        <c:crossAx val="3683865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clean.xlsx]PIVOT_TABLES!PivotTable24</c:name>
    <c:fmtId val="9"/>
  </c:pivotSource>
  <c:chart>
    <c:title>
      <c:tx>
        <c:rich>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r>
              <a:rPr lang="en-US" sz="1600" b="1">
                <a:solidFill>
                  <a:schemeClr val="bg1"/>
                </a:solidFill>
                <a:latin typeface="Book Antiqua" panose="02040602050305030304" pitchFamily="18" charset="0"/>
              </a:rPr>
              <a:t>Stock Availability Across</a:t>
            </a:r>
            <a:r>
              <a:rPr lang="en-US" sz="1600" b="1" baseline="0">
                <a:solidFill>
                  <a:schemeClr val="bg1"/>
                </a:solidFill>
                <a:latin typeface="Book Antiqua" panose="02040602050305030304" pitchFamily="18" charset="0"/>
              </a:rPr>
              <a:t> Locations</a:t>
            </a:r>
            <a:endParaRPr lang="en-US" sz="1600" b="1">
              <a:solidFill>
                <a:schemeClr val="bg1"/>
              </a:solidFill>
              <a:latin typeface="Book Antiqua" panose="02040602050305030304" pitchFamily="18" charset="0"/>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rgbClr val="B7DEE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B7DEE8"/>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rgbClr val="C3D69B"/>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3">
              <a:lumMod val="60000"/>
              <a:lumOff val="40000"/>
            </a:schemeClr>
          </a:solidFill>
          <a:ln>
            <a:noFill/>
          </a:ln>
          <a:effectLst/>
        </c:spPr>
        <c:marker>
          <c:symbol val="none"/>
        </c:marker>
        <c:dLbl>
          <c:idx val="0"/>
          <c:spPr>
            <a:noFill/>
            <a:ln>
              <a:noFill/>
            </a:ln>
            <a:effectLst/>
          </c:spPr>
          <c:txPr>
            <a:bodyPr rot="-5400000" spcFirstLastPara="1" vertOverflow="ellipsis" vert="horz"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FCD5B5"/>
          </a:solidFill>
          <a:ln>
            <a:noFill/>
          </a:ln>
          <a:effectLst/>
        </c:spPr>
        <c:marker>
          <c:symbol val="none"/>
        </c:marker>
        <c:dLbl>
          <c:idx val="0"/>
          <c:spPr>
            <a:noFill/>
            <a:ln>
              <a:noFill/>
            </a:ln>
            <a:effectLst/>
          </c:spPr>
          <c:txPr>
            <a:bodyPr rot="-5400000" spcFirstLastPara="1" vertOverflow="ellipsis" vert="horz"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rgbClr val="FCD5B5"/>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3">
              <a:lumMod val="60000"/>
              <a:lumOff val="40000"/>
            </a:schemeClr>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FCD5B5"/>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3">
              <a:lumMod val="60000"/>
              <a:lumOff val="40000"/>
            </a:schemeClr>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PIVOT_TABLES!$E$34</c:f>
              <c:strCache>
                <c:ptCount val="1"/>
                <c:pt idx="0">
                  <c:v>Sum of Ideal_Stock</c:v>
                </c:pt>
              </c:strCache>
            </c:strRef>
          </c:tx>
          <c:spPr>
            <a:solidFill>
              <a:srgbClr val="FCD5B5"/>
            </a:solidFill>
            <a:ln>
              <a:noFill/>
            </a:ln>
            <a:effectLst/>
          </c:spPr>
          <c:invertIfNegative val="1"/>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PIVOT_TABLES!$D$35:$D$45</c:f>
              <c:strCache>
                <c:ptCount val="10"/>
                <c:pt idx="0">
                  <c:v>Coffee Beans</c:v>
                </c:pt>
                <c:pt idx="1">
                  <c:v>Croissant Dough</c:v>
                </c:pt>
                <c:pt idx="2">
                  <c:v>Iced Tea Bags</c:v>
                </c:pt>
                <c:pt idx="3">
                  <c:v>Juice Concentrate</c:v>
                </c:pt>
                <c:pt idx="4">
                  <c:v>Lemon</c:v>
                </c:pt>
                <c:pt idx="5">
                  <c:v>Milk</c:v>
                </c:pt>
                <c:pt idx="6">
                  <c:v>Muffin Mix</c:v>
                </c:pt>
                <c:pt idx="7">
                  <c:v>Sandwich Bread</c:v>
                </c:pt>
                <c:pt idx="8">
                  <c:v>Sugar</c:v>
                </c:pt>
                <c:pt idx="9">
                  <c:v>Tea Bags</c:v>
                </c:pt>
              </c:strCache>
            </c:strRef>
          </c:cat>
          <c:val>
            <c:numRef>
              <c:f>PIVOT_TABLES!$E$35:$E$45</c:f>
              <c:numCache>
                <c:formatCode>General</c:formatCode>
                <c:ptCount val="10"/>
                <c:pt idx="0">
                  <c:v>150</c:v>
                </c:pt>
                <c:pt idx="1">
                  <c:v>200</c:v>
                </c:pt>
                <c:pt idx="2">
                  <c:v>150</c:v>
                </c:pt>
                <c:pt idx="3">
                  <c:v>150</c:v>
                </c:pt>
                <c:pt idx="4">
                  <c:v>150</c:v>
                </c:pt>
                <c:pt idx="5">
                  <c:v>150</c:v>
                </c:pt>
                <c:pt idx="6">
                  <c:v>200</c:v>
                </c:pt>
                <c:pt idx="7">
                  <c:v>150</c:v>
                </c:pt>
                <c:pt idx="8">
                  <c:v>150</c:v>
                </c:pt>
                <c:pt idx="9">
                  <c:v>150</c:v>
                </c:pt>
              </c:numCache>
            </c:numRef>
          </c:val>
          <c:extLst>
            <c:ext xmlns:c14="http://schemas.microsoft.com/office/drawing/2007/8/2/chart" uri="{6F2FDCE9-48DA-4B69-8628-5D25D57E5C99}">
              <c14:invertSolidFillFmt>
                <c14:spPr xmlns:c14="http://schemas.microsoft.com/office/drawing/2007/8/2/chart">
                  <a:solidFill>
                    <a:srgbClr val="FFFFFF"/>
                  </a:solidFill>
                  <a:ln>
                    <a:noFill/>
                  </a:ln>
                  <a:effectLst/>
                </c14:spPr>
              </c14:invertSolidFillFmt>
            </c:ext>
            <c:ext xmlns:c16="http://schemas.microsoft.com/office/drawing/2014/chart" uri="{C3380CC4-5D6E-409C-BE32-E72D297353CC}">
              <c16:uniqueId val="{00000000-76B8-0F48-B62A-0B5B297AB2B2}"/>
            </c:ext>
          </c:extLst>
        </c:ser>
        <c:ser>
          <c:idx val="1"/>
          <c:order val="1"/>
          <c:tx>
            <c:strRef>
              <c:f>PIVOT_TABLES!$F$34</c:f>
              <c:strCache>
                <c:ptCount val="1"/>
                <c:pt idx="0">
                  <c:v>Sum of Current_Stock</c:v>
                </c:pt>
              </c:strCache>
            </c:strRef>
          </c:tx>
          <c:spPr>
            <a:solidFill>
              <a:schemeClr val="accent3">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PIVOT_TABLES!$D$35:$D$45</c:f>
              <c:strCache>
                <c:ptCount val="10"/>
                <c:pt idx="0">
                  <c:v>Coffee Beans</c:v>
                </c:pt>
                <c:pt idx="1">
                  <c:v>Croissant Dough</c:v>
                </c:pt>
                <c:pt idx="2">
                  <c:v>Iced Tea Bags</c:v>
                </c:pt>
                <c:pt idx="3">
                  <c:v>Juice Concentrate</c:v>
                </c:pt>
                <c:pt idx="4">
                  <c:v>Lemon</c:v>
                </c:pt>
                <c:pt idx="5">
                  <c:v>Milk</c:v>
                </c:pt>
                <c:pt idx="6">
                  <c:v>Muffin Mix</c:v>
                </c:pt>
                <c:pt idx="7">
                  <c:v>Sandwich Bread</c:v>
                </c:pt>
                <c:pt idx="8">
                  <c:v>Sugar</c:v>
                </c:pt>
                <c:pt idx="9">
                  <c:v>Tea Bags</c:v>
                </c:pt>
              </c:strCache>
            </c:strRef>
          </c:cat>
          <c:val>
            <c:numRef>
              <c:f>PIVOT_TABLES!$F$35:$F$45</c:f>
              <c:numCache>
                <c:formatCode>General</c:formatCode>
                <c:ptCount val="10"/>
                <c:pt idx="0">
                  <c:v>177</c:v>
                </c:pt>
                <c:pt idx="1">
                  <c:v>126</c:v>
                </c:pt>
                <c:pt idx="2">
                  <c:v>76</c:v>
                </c:pt>
                <c:pt idx="3">
                  <c:v>150</c:v>
                </c:pt>
                <c:pt idx="4">
                  <c:v>163</c:v>
                </c:pt>
                <c:pt idx="5">
                  <c:v>71</c:v>
                </c:pt>
                <c:pt idx="6">
                  <c:v>134</c:v>
                </c:pt>
                <c:pt idx="7">
                  <c:v>195</c:v>
                </c:pt>
                <c:pt idx="8">
                  <c:v>185</c:v>
                </c:pt>
                <c:pt idx="9">
                  <c:v>119</c:v>
                </c:pt>
              </c:numCache>
            </c:numRef>
          </c:val>
          <c:extLst>
            <c:ext xmlns:c16="http://schemas.microsoft.com/office/drawing/2014/chart" uri="{C3380CC4-5D6E-409C-BE32-E72D297353CC}">
              <c16:uniqueId val="{00000001-76B8-0F48-B62A-0B5B297AB2B2}"/>
            </c:ext>
          </c:extLst>
        </c:ser>
        <c:dLbls>
          <c:showLegendKey val="0"/>
          <c:showVal val="0"/>
          <c:showCatName val="0"/>
          <c:showSerName val="0"/>
          <c:showPercent val="0"/>
          <c:showBubbleSize val="0"/>
        </c:dLbls>
        <c:gapWidth val="219"/>
        <c:overlap val="-27"/>
        <c:axId val="219952719"/>
        <c:axId val="174059151"/>
      </c:barChart>
      <c:catAx>
        <c:axId val="219952719"/>
        <c:scaling>
          <c:orientation val="minMax"/>
        </c:scaling>
        <c:delete val="0"/>
        <c:axPos val="b"/>
        <c:numFmt formatCode="General" sourceLinked="1"/>
        <c:majorTickMark val="none"/>
        <c:minorTickMark val="none"/>
        <c:tickLblPos val="low"/>
        <c:spPr>
          <a:noFill/>
          <a:ln w="9525" cap="flat" cmpd="sng" algn="ctr">
            <a:solidFill>
              <a:schemeClr val="accent2">
                <a:lumMod val="40000"/>
                <a:lumOff val="60000"/>
              </a:schemeClr>
            </a:solidFill>
            <a:round/>
          </a:ln>
          <a:effectLst/>
        </c:spPr>
        <c:txPr>
          <a:bodyPr rot="5400000" spcFirstLastPara="1" vertOverflow="ellipsis" wrap="square" anchor="ctr" anchorCtr="1"/>
          <a:lstStyle/>
          <a:p>
            <a:pPr>
              <a:defRPr sz="1200" b="0" i="0" u="none" strike="noStrike" kern="1200" baseline="0">
                <a:solidFill>
                  <a:schemeClr val="bg1"/>
                </a:solidFill>
                <a:latin typeface="Book Antiqua" panose="02040602050305030304" pitchFamily="18" charset="0"/>
                <a:ea typeface="+mn-ea"/>
                <a:cs typeface="+mn-cs"/>
              </a:defRPr>
            </a:pPr>
            <a:endParaRPr lang="en-US"/>
          </a:p>
        </c:txPr>
        <c:crossAx val="174059151"/>
        <c:crosses val="autoZero"/>
        <c:auto val="1"/>
        <c:lblAlgn val="ctr"/>
        <c:lblOffset val="100"/>
        <c:noMultiLvlLbl val="0"/>
      </c:catAx>
      <c:valAx>
        <c:axId val="174059151"/>
        <c:scaling>
          <c:orientation val="minMax"/>
        </c:scaling>
        <c:delete val="1"/>
        <c:axPos val="l"/>
        <c:numFmt formatCode="General" sourceLinked="1"/>
        <c:majorTickMark val="none"/>
        <c:minorTickMark val="none"/>
        <c:tickLblPos val="nextTo"/>
        <c:crossAx val="21995271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Book Antiqua" panose="02040602050305030304" pitchFamily="18"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clean.xlsx]PIVOT_TABLES!PivotTable6</c:name>
    <c:fmtId val="6"/>
  </c:pivotSource>
  <c:chart>
    <c:title>
      <c:tx>
        <c:rich>
          <a:bodyPr rot="0" spcFirstLastPara="1" vertOverflow="ellipsis" vert="horz" wrap="square" anchor="ctr" anchorCtr="1"/>
          <a:lstStyle/>
          <a:p>
            <a:pPr>
              <a:defRPr sz="1400" b="1" i="0" u="none" strike="noStrike" kern="1200" spc="0" baseline="0">
                <a:solidFill>
                  <a:schemeClr val="bg1"/>
                </a:solidFill>
                <a:latin typeface="Book Antiqua" panose="02040602050305030304" pitchFamily="18" charset="0"/>
                <a:ea typeface="+mn-ea"/>
                <a:cs typeface="+mn-cs"/>
              </a:defRPr>
            </a:pPr>
            <a:r>
              <a:rPr lang="en-US" b="1">
                <a:solidFill>
                  <a:schemeClr val="bg1"/>
                </a:solidFill>
                <a:latin typeface="Book Antiqua" panose="02040602050305030304" pitchFamily="18" charset="0"/>
              </a:rPr>
              <a:t>Customer Ratings</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PIVOT_TABLES!$B$79</c:f>
              <c:strCache>
                <c:ptCount val="1"/>
                <c:pt idx="0">
                  <c:v>Total</c:v>
                </c:pt>
              </c:strCache>
            </c:strRef>
          </c:tx>
          <c:spPr>
            <a:solidFill>
              <a:schemeClr val="accent3">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PIVOT_TABLES!$A$80:$A$86</c:f>
              <c:strCache>
                <c:ptCount val="6"/>
                <c:pt idx="0">
                  <c:v>0</c:v>
                </c:pt>
                <c:pt idx="1">
                  <c:v>1</c:v>
                </c:pt>
                <c:pt idx="2">
                  <c:v>2</c:v>
                </c:pt>
                <c:pt idx="3">
                  <c:v>3</c:v>
                </c:pt>
                <c:pt idx="4">
                  <c:v>4</c:v>
                </c:pt>
                <c:pt idx="5">
                  <c:v>5</c:v>
                </c:pt>
              </c:strCache>
            </c:strRef>
          </c:cat>
          <c:val>
            <c:numRef>
              <c:f>PIVOT_TABLES!$B$80:$B$86</c:f>
              <c:numCache>
                <c:formatCode>General</c:formatCode>
                <c:ptCount val="6"/>
                <c:pt idx="0">
                  <c:v>392</c:v>
                </c:pt>
                <c:pt idx="1">
                  <c:v>115</c:v>
                </c:pt>
                <c:pt idx="2">
                  <c:v>124</c:v>
                </c:pt>
                <c:pt idx="3">
                  <c:v>134</c:v>
                </c:pt>
                <c:pt idx="4">
                  <c:v>118</c:v>
                </c:pt>
                <c:pt idx="5">
                  <c:v>117</c:v>
                </c:pt>
              </c:numCache>
            </c:numRef>
          </c:val>
          <c:extLst>
            <c:ext xmlns:c16="http://schemas.microsoft.com/office/drawing/2014/chart" uri="{C3380CC4-5D6E-409C-BE32-E72D297353CC}">
              <c16:uniqueId val="{00000000-D809-634F-AC9B-20A337E33D11}"/>
            </c:ext>
          </c:extLst>
        </c:ser>
        <c:dLbls>
          <c:showLegendKey val="0"/>
          <c:showVal val="0"/>
          <c:showCatName val="0"/>
          <c:showSerName val="0"/>
          <c:showPercent val="0"/>
          <c:showBubbleSize val="0"/>
        </c:dLbls>
        <c:gapWidth val="219"/>
        <c:overlap val="-27"/>
        <c:axId val="1270443887"/>
        <c:axId val="1270445599"/>
      </c:barChart>
      <c:catAx>
        <c:axId val="12704438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1270445599"/>
        <c:crosses val="autoZero"/>
        <c:auto val="1"/>
        <c:lblAlgn val="ctr"/>
        <c:lblOffset val="100"/>
        <c:noMultiLvlLbl val="0"/>
      </c:catAx>
      <c:valAx>
        <c:axId val="1270445599"/>
        <c:scaling>
          <c:orientation val="minMax"/>
        </c:scaling>
        <c:delete val="1"/>
        <c:axPos val="l"/>
        <c:numFmt formatCode="General" sourceLinked="1"/>
        <c:majorTickMark val="none"/>
        <c:minorTickMark val="none"/>
        <c:tickLblPos val="nextTo"/>
        <c:crossAx val="12704438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clean.xlsx]PIVOT_TABLES!PivotTable25</c:name>
    <c:fmtId val="7"/>
  </c:pivotSource>
  <c:chart>
    <c:title>
      <c:tx>
        <c:rich>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r>
              <a:rPr lang="en-US" sz="1600" b="1">
                <a:solidFill>
                  <a:schemeClr val="bg1"/>
                </a:solidFill>
                <a:latin typeface="Book Antiqua" panose="02040602050305030304" pitchFamily="18" charset="0"/>
              </a:rPr>
              <a:t>Top Employee Performers</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chemeClr val="accent5">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PIVOT_TABLES!$E$49</c:f>
              <c:strCache>
                <c:ptCount val="1"/>
                <c:pt idx="0">
                  <c:v>Average of Sales_Target</c:v>
                </c:pt>
              </c:strCache>
            </c:strRef>
          </c:tx>
          <c:spPr>
            <a:solidFill>
              <a:schemeClr val="accent3">
                <a:lumMod val="60000"/>
                <a:lumOff val="40000"/>
              </a:schemeClr>
            </a:solidFill>
            <a:ln>
              <a:noFill/>
            </a:ln>
            <a:effectLst/>
          </c:spPr>
          <c:invertIfNegative val="0"/>
          <c:cat>
            <c:strRef>
              <c:f>PIVOT_TABLES!$D$50:$D$60</c:f>
              <c:strCache>
                <c:ptCount val="10"/>
                <c:pt idx="0">
                  <c:v>Elizabeth Allen</c:v>
                </c:pt>
                <c:pt idx="1">
                  <c:v>Ryan Taylor</c:v>
                </c:pt>
                <c:pt idx="2">
                  <c:v>Jessica Johnson</c:v>
                </c:pt>
                <c:pt idx="3">
                  <c:v>Laura Young</c:v>
                </c:pt>
                <c:pt idx="4">
                  <c:v>Olivia Brown</c:v>
                </c:pt>
                <c:pt idx="5">
                  <c:v>David Smith</c:v>
                </c:pt>
                <c:pt idx="6">
                  <c:v>William Taylor</c:v>
                </c:pt>
                <c:pt idx="7">
                  <c:v>William Harris</c:v>
                </c:pt>
                <c:pt idx="8">
                  <c:v>Elizabeth Johnson</c:v>
                </c:pt>
                <c:pt idx="9">
                  <c:v>Megan White</c:v>
                </c:pt>
              </c:strCache>
            </c:strRef>
          </c:cat>
          <c:val>
            <c:numRef>
              <c:f>PIVOT_TABLES!$E$50:$E$60</c:f>
              <c:numCache>
                <c:formatCode>0</c:formatCode>
                <c:ptCount val="10"/>
                <c:pt idx="0">
                  <c:v>2959.8571428571427</c:v>
                </c:pt>
                <c:pt idx="1">
                  <c:v>2350.25</c:v>
                </c:pt>
                <c:pt idx="2">
                  <c:v>1942.5</c:v>
                </c:pt>
                <c:pt idx="3">
                  <c:v>1658.6666666666667</c:v>
                </c:pt>
                <c:pt idx="4">
                  <c:v>2092.5</c:v>
                </c:pt>
                <c:pt idx="5">
                  <c:v>2851.5714285714284</c:v>
                </c:pt>
                <c:pt idx="6">
                  <c:v>1679.5</c:v>
                </c:pt>
                <c:pt idx="7">
                  <c:v>1865.5</c:v>
                </c:pt>
                <c:pt idx="8">
                  <c:v>2973.4</c:v>
                </c:pt>
                <c:pt idx="9">
                  <c:v>2801.4</c:v>
                </c:pt>
              </c:numCache>
            </c:numRef>
          </c:val>
          <c:extLst>
            <c:ext xmlns:c16="http://schemas.microsoft.com/office/drawing/2014/chart" uri="{C3380CC4-5D6E-409C-BE32-E72D297353CC}">
              <c16:uniqueId val="{00000000-CC77-3E48-8A59-9695462A2C43}"/>
            </c:ext>
          </c:extLst>
        </c:ser>
        <c:ser>
          <c:idx val="1"/>
          <c:order val="1"/>
          <c:tx>
            <c:strRef>
              <c:f>PIVOT_TABLES!$F$49</c:f>
              <c:strCache>
                <c:ptCount val="1"/>
                <c:pt idx="0">
                  <c:v>Sum of Performance</c:v>
                </c:pt>
              </c:strCache>
            </c:strRef>
          </c:tx>
          <c:spPr>
            <a:solidFill>
              <a:schemeClr val="accent6">
                <a:lumMod val="40000"/>
                <a:lumOff val="60000"/>
              </a:schemeClr>
            </a:solidFill>
            <a:ln>
              <a:noFill/>
            </a:ln>
            <a:effectLst/>
          </c:spPr>
          <c:invertIfNegative val="0"/>
          <c:cat>
            <c:strRef>
              <c:f>PIVOT_TABLES!$D$50:$D$60</c:f>
              <c:strCache>
                <c:ptCount val="10"/>
                <c:pt idx="0">
                  <c:v>Elizabeth Allen</c:v>
                </c:pt>
                <c:pt idx="1">
                  <c:v>Ryan Taylor</c:v>
                </c:pt>
                <c:pt idx="2">
                  <c:v>Jessica Johnson</c:v>
                </c:pt>
                <c:pt idx="3">
                  <c:v>Laura Young</c:v>
                </c:pt>
                <c:pt idx="4">
                  <c:v>Olivia Brown</c:v>
                </c:pt>
                <c:pt idx="5">
                  <c:v>David Smith</c:v>
                </c:pt>
                <c:pt idx="6">
                  <c:v>William Taylor</c:v>
                </c:pt>
                <c:pt idx="7">
                  <c:v>William Harris</c:v>
                </c:pt>
                <c:pt idx="8">
                  <c:v>Elizabeth Johnson</c:v>
                </c:pt>
                <c:pt idx="9">
                  <c:v>Megan White</c:v>
                </c:pt>
              </c:strCache>
            </c:strRef>
          </c:cat>
          <c:val>
            <c:numRef>
              <c:f>PIVOT_TABLES!$F$50:$F$60</c:f>
              <c:numCache>
                <c:formatCode>0</c:formatCode>
                <c:ptCount val="10"/>
                <c:pt idx="0">
                  <c:v>7748</c:v>
                </c:pt>
                <c:pt idx="1">
                  <c:v>7907</c:v>
                </c:pt>
                <c:pt idx="2">
                  <c:v>8012</c:v>
                </c:pt>
                <c:pt idx="3">
                  <c:v>8134</c:v>
                </c:pt>
                <c:pt idx="4">
                  <c:v>8454</c:v>
                </c:pt>
                <c:pt idx="5">
                  <c:v>9700</c:v>
                </c:pt>
                <c:pt idx="6">
                  <c:v>9847</c:v>
                </c:pt>
                <c:pt idx="7">
                  <c:v>10246</c:v>
                </c:pt>
                <c:pt idx="8">
                  <c:v>10702</c:v>
                </c:pt>
                <c:pt idx="9">
                  <c:v>11095</c:v>
                </c:pt>
              </c:numCache>
            </c:numRef>
          </c:val>
          <c:extLst>
            <c:ext xmlns:c16="http://schemas.microsoft.com/office/drawing/2014/chart" uri="{C3380CC4-5D6E-409C-BE32-E72D297353CC}">
              <c16:uniqueId val="{00000001-CC77-3E48-8A59-9695462A2C43}"/>
            </c:ext>
          </c:extLst>
        </c:ser>
        <c:dLbls>
          <c:showLegendKey val="0"/>
          <c:showVal val="0"/>
          <c:showCatName val="0"/>
          <c:showSerName val="0"/>
          <c:showPercent val="0"/>
          <c:showBubbleSize val="0"/>
        </c:dLbls>
        <c:gapWidth val="219"/>
        <c:axId val="278748447"/>
        <c:axId val="193411135"/>
      </c:barChart>
      <c:catAx>
        <c:axId val="278748447"/>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193411135"/>
        <c:crosses val="autoZero"/>
        <c:auto val="1"/>
        <c:lblAlgn val="ctr"/>
        <c:lblOffset val="100"/>
        <c:noMultiLvlLbl val="0"/>
      </c:catAx>
      <c:valAx>
        <c:axId val="193411135"/>
        <c:scaling>
          <c:orientation val="minMax"/>
          <c:max val="11500"/>
          <c:min val="0"/>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27874844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clean.xlsx]PIVOT_TABLES!PivotTable26</c:name>
    <c:fmtId val="6"/>
  </c:pivotSource>
  <c:chart>
    <c:title>
      <c:tx>
        <c:rich>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r>
              <a:rPr lang="en-US" sz="1600" b="1">
                <a:solidFill>
                  <a:schemeClr val="bg1"/>
                </a:solidFill>
                <a:latin typeface="Book Antiqua" panose="02040602050305030304" pitchFamily="18" charset="0"/>
              </a:rPr>
              <a:t>Least Employee Performers</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chemeClr val="accent5">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3">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lumMod val="40000"/>
              <a:lumOff val="6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clustered"/>
        <c:varyColors val="0"/>
        <c:ser>
          <c:idx val="0"/>
          <c:order val="0"/>
          <c:tx>
            <c:strRef>
              <c:f>PIVOT_TABLES!$E$64</c:f>
              <c:strCache>
                <c:ptCount val="1"/>
                <c:pt idx="0">
                  <c:v>Average of Sales_Target</c:v>
                </c:pt>
              </c:strCache>
            </c:strRef>
          </c:tx>
          <c:spPr>
            <a:solidFill>
              <a:schemeClr val="accent3">
                <a:lumMod val="60000"/>
                <a:lumOff val="40000"/>
              </a:schemeClr>
            </a:solidFill>
            <a:ln>
              <a:noFill/>
            </a:ln>
            <a:effectLst/>
          </c:spPr>
          <c:invertIfNegative val="0"/>
          <c:cat>
            <c:strRef>
              <c:f>PIVOT_TABLES!$D$65:$D$75</c:f>
              <c:strCache>
                <c:ptCount val="10"/>
                <c:pt idx="0">
                  <c:v>Elizabeth Green</c:v>
                </c:pt>
                <c:pt idx="1">
                  <c:v>Linda Lee</c:v>
                </c:pt>
                <c:pt idx="2">
                  <c:v>John Smith</c:v>
                </c:pt>
                <c:pt idx="3">
                  <c:v>Sarah King</c:v>
                </c:pt>
                <c:pt idx="4">
                  <c:v>Emily Harris</c:v>
                </c:pt>
                <c:pt idx="5">
                  <c:v>Isabella Harris</c:v>
                </c:pt>
                <c:pt idx="6">
                  <c:v>David Hall</c:v>
                </c:pt>
                <c:pt idx="7">
                  <c:v>Daniel Taylor</c:v>
                </c:pt>
                <c:pt idx="8">
                  <c:v>Robert Scott</c:v>
                </c:pt>
                <c:pt idx="9">
                  <c:v>Olivia King</c:v>
                </c:pt>
              </c:strCache>
            </c:strRef>
          </c:cat>
          <c:val>
            <c:numRef>
              <c:f>PIVOT_TABLES!$E$65:$E$75</c:f>
              <c:numCache>
                <c:formatCode>0</c:formatCode>
                <c:ptCount val="10"/>
                <c:pt idx="0">
                  <c:v>2968</c:v>
                </c:pt>
                <c:pt idx="1">
                  <c:v>2787.75</c:v>
                </c:pt>
                <c:pt idx="2">
                  <c:v>4039</c:v>
                </c:pt>
                <c:pt idx="3">
                  <c:v>3535.3333333333335</c:v>
                </c:pt>
                <c:pt idx="4">
                  <c:v>3659.3333333333335</c:v>
                </c:pt>
                <c:pt idx="5">
                  <c:v>3361</c:v>
                </c:pt>
                <c:pt idx="6">
                  <c:v>4313.5</c:v>
                </c:pt>
                <c:pt idx="7">
                  <c:v>4362.6000000000004</c:v>
                </c:pt>
                <c:pt idx="8">
                  <c:v>4187.75</c:v>
                </c:pt>
                <c:pt idx="9">
                  <c:v>3794.2</c:v>
                </c:pt>
              </c:numCache>
            </c:numRef>
          </c:val>
          <c:extLst>
            <c:ext xmlns:c16="http://schemas.microsoft.com/office/drawing/2014/chart" uri="{C3380CC4-5D6E-409C-BE32-E72D297353CC}">
              <c16:uniqueId val="{00000000-42E9-9E4B-8543-B96A227F768F}"/>
            </c:ext>
          </c:extLst>
        </c:ser>
        <c:ser>
          <c:idx val="1"/>
          <c:order val="1"/>
          <c:tx>
            <c:strRef>
              <c:f>PIVOT_TABLES!$F$64</c:f>
              <c:strCache>
                <c:ptCount val="1"/>
                <c:pt idx="0">
                  <c:v>Sum of Performance</c:v>
                </c:pt>
              </c:strCache>
            </c:strRef>
          </c:tx>
          <c:spPr>
            <a:solidFill>
              <a:schemeClr val="accent6">
                <a:lumMod val="40000"/>
                <a:lumOff val="60000"/>
              </a:schemeClr>
            </a:solidFill>
            <a:ln>
              <a:noFill/>
            </a:ln>
            <a:effectLst/>
          </c:spPr>
          <c:invertIfNegative val="0"/>
          <c:cat>
            <c:strRef>
              <c:f>PIVOT_TABLES!$D$65:$D$75</c:f>
              <c:strCache>
                <c:ptCount val="10"/>
                <c:pt idx="0">
                  <c:v>Elizabeth Green</c:v>
                </c:pt>
                <c:pt idx="1">
                  <c:v>Linda Lee</c:v>
                </c:pt>
                <c:pt idx="2">
                  <c:v>John Smith</c:v>
                </c:pt>
                <c:pt idx="3">
                  <c:v>Sarah King</c:v>
                </c:pt>
                <c:pt idx="4">
                  <c:v>Emily Harris</c:v>
                </c:pt>
                <c:pt idx="5">
                  <c:v>Isabella Harris</c:v>
                </c:pt>
                <c:pt idx="6">
                  <c:v>David Hall</c:v>
                </c:pt>
                <c:pt idx="7">
                  <c:v>Daniel Taylor</c:v>
                </c:pt>
                <c:pt idx="8">
                  <c:v>Robert Scott</c:v>
                </c:pt>
                <c:pt idx="9">
                  <c:v>Olivia King</c:v>
                </c:pt>
              </c:strCache>
            </c:strRef>
          </c:cat>
          <c:val>
            <c:numRef>
              <c:f>PIVOT_TABLES!$F$65:$F$75</c:f>
              <c:numCache>
                <c:formatCode>General</c:formatCode>
                <c:ptCount val="10"/>
                <c:pt idx="0">
                  <c:v>-4481</c:v>
                </c:pt>
                <c:pt idx="1">
                  <c:v>-4505</c:v>
                </c:pt>
                <c:pt idx="2">
                  <c:v>-4509</c:v>
                </c:pt>
                <c:pt idx="3">
                  <c:v>-4810</c:v>
                </c:pt>
                <c:pt idx="4">
                  <c:v>-5067</c:v>
                </c:pt>
                <c:pt idx="5">
                  <c:v>-6229</c:v>
                </c:pt>
                <c:pt idx="6">
                  <c:v>-6704</c:v>
                </c:pt>
                <c:pt idx="7">
                  <c:v>-6873</c:v>
                </c:pt>
                <c:pt idx="8">
                  <c:v>-7827</c:v>
                </c:pt>
                <c:pt idx="9">
                  <c:v>-9766</c:v>
                </c:pt>
              </c:numCache>
            </c:numRef>
          </c:val>
          <c:extLst>
            <c:ext xmlns:c16="http://schemas.microsoft.com/office/drawing/2014/chart" uri="{C3380CC4-5D6E-409C-BE32-E72D297353CC}">
              <c16:uniqueId val="{00000001-42E9-9E4B-8543-B96A227F768F}"/>
            </c:ext>
          </c:extLst>
        </c:ser>
        <c:dLbls>
          <c:showLegendKey val="0"/>
          <c:showVal val="0"/>
          <c:showCatName val="0"/>
          <c:showSerName val="0"/>
          <c:showPercent val="0"/>
          <c:showBubbleSize val="0"/>
        </c:dLbls>
        <c:gapWidth val="219"/>
        <c:axId val="240686655"/>
        <c:axId val="184443007"/>
      </c:barChart>
      <c:catAx>
        <c:axId val="240686655"/>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184443007"/>
        <c:crosses val="autoZero"/>
        <c:auto val="1"/>
        <c:lblAlgn val="ctr"/>
        <c:lblOffset val="100"/>
        <c:noMultiLvlLbl val="0"/>
      </c:catAx>
      <c:valAx>
        <c:axId val="184443007"/>
        <c:scaling>
          <c:orientation val="minMax"/>
          <c:max val="5000"/>
          <c:min val="-10000"/>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24068665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[Cafe_Harmony_Capstone_Project clean.xlsx]PIVOT_TABLES!PivotTable4</c:name>
    <c:fmtId val="6"/>
  </c:pivotSource>
  <c:chart>
    <c:title>
      <c:tx>
        <c:rich>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r>
              <a:rPr lang="en-US" sz="1600" b="1" dirty="0">
                <a:solidFill>
                  <a:schemeClr val="bg1"/>
                </a:solidFill>
                <a:latin typeface="Book Antiqua" panose="02040602050305030304" pitchFamily="18" charset="0"/>
              </a:rPr>
              <a:t>Performance by Location</a:t>
            </a:r>
          </a:p>
        </c:rich>
      </c:tx>
      <c:layout>
        <c:manualLayout>
          <c:xMode val="edge"/>
          <c:yMode val="edge"/>
          <c:x val="0.22137234728511074"/>
          <c:y val="3.9026030510742417E-2"/>
        </c:manualLayout>
      </c:layout>
      <c:overlay val="0"/>
      <c:spPr>
        <a:noFill/>
        <a:ln>
          <a:noFill/>
        </a:ln>
        <a:effectLst/>
      </c:spPr>
      <c:txPr>
        <a:bodyPr rot="0" spcFirstLastPara="1" vertOverflow="ellipsis" vert="horz" wrap="square" anchor="ctr" anchorCtr="1"/>
        <a:lstStyle/>
        <a:p>
          <a:pPr>
            <a:defRPr sz="1600" b="1" i="0" u="none" strike="noStrike" kern="1200" spc="0" baseline="0">
              <a:solidFill>
                <a:schemeClr val="bg1"/>
              </a:solidFill>
              <a:latin typeface="Book Antiqua" panose="02040602050305030304" pitchFamily="18" charset="0"/>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3">
              <a:lumMod val="60000"/>
              <a:lumOff val="40000"/>
            </a:schemeClr>
          </a:solidFill>
          <a:ln>
            <a:noFill/>
          </a:ln>
          <a:effectLst/>
        </c:spPr>
        <c:marker>
          <c:symbol val="none"/>
        </c:marker>
        <c:dLbl>
          <c:idx val="0"/>
          <c:spPr>
            <a:noFill/>
            <a:ln>
              <a:noFill/>
            </a:ln>
            <a:effectLst/>
          </c:spPr>
          <c:txPr>
            <a:bodyPr rot="-5400000" spcFirstLastPara="1" vertOverflow="ellipsis" vert="horz"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6">
              <a:lumMod val="40000"/>
              <a:lumOff val="60000"/>
            </a:schemeClr>
          </a:solidFill>
          <a:ln>
            <a:noFill/>
          </a:ln>
          <a:effectLst/>
        </c:spPr>
        <c:marker>
          <c:symbol val="none"/>
        </c:marker>
        <c:dLbl>
          <c:idx val="0"/>
          <c:spPr>
            <a:noFill/>
            <a:ln>
              <a:noFill/>
            </a:ln>
            <a:effectLst/>
          </c:spPr>
          <c:txPr>
            <a:bodyPr rot="-5400000" spcFirstLastPara="1" vertOverflow="ellipsis" vert="horz"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3">
              <a:lumMod val="60000"/>
              <a:lumOff val="40000"/>
            </a:schemeClr>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6">
              <a:lumMod val="40000"/>
              <a:lumOff val="60000"/>
            </a:schemeClr>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3">
              <a:lumMod val="60000"/>
              <a:lumOff val="40000"/>
            </a:schemeClr>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6">
              <a:lumMod val="40000"/>
              <a:lumOff val="60000"/>
            </a:schemeClr>
          </a:solidFill>
          <a:ln>
            <a:noFill/>
          </a:ln>
          <a:effectLst/>
        </c:spPr>
        <c:marker>
          <c:symbol val="none"/>
        </c:marker>
        <c:dLbl>
          <c:idx val="0"/>
          <c:spPr>
            <a:noFill/>
            <a:ln>
              <a:noFill/>
            </a:ln>
            <a:effectLst/>
          </c:spPr>
          <c:txPr>
            <a:bodyPr rot="-5400000" spcFirstLastPara="1" vertOverflow="ellipsis" wrap="square" lIns="38100" tIns="19050" rIns="38100" bIns="19050" anchor="ctr" anchorCtr="1">
              <a:spAutoFit/>
            </a:bodyPr>
            <a:lstStyle/>
            <a:p>
              <a:pPr>
                <a:defRPr sz="900" b="1" i="0" u="none" strike="noStrike" kern="1200" baseline="0">
                  <a:solidFill>
                    <a:schemeClr val="bg1"/>
                  </a:solidFill>
                  <a:latin typeface="Book Antiqua" panose="02040602050305030304" pitchFamily="18" charset="0"/>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4.8034934497816595E-2"/>
          <c:y val="0.12810185185185186"/>
          <c:w val="0.90393013100436681"/>
          <c:h val="0.61504666083406245"/>
        </c:manualLayout>
      </c:layout>
      <c:barChart>
        <c:barDir val="col"/>
        <c:grouping val="clustered"/>
        <c:varyColors val="0"/>
        <c:ser>
          <c:idx val="0"/>
          <c:order val="0"/>
          <c:tx>
            <c:strRef>
              <c:f>PIVOT_TABLES!$N$45</c:f>
              <c:strCache>
                <c:ptCount val="1"/>
                <c:pt idx="0">
                  <c:v>Average of Sales-Target</c:v>
                </c:pt>
              </c:strCache>
            </c:strRef>
          </c:tx>
          <c:spPr>
            <a:solidFill>
              <a:schemeClr val="accent3">
                <a:lumMod val="60000"/>
                <a:lumOff val="4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Book Antiqua" panose="02040602050305030304" pitchFamily="18" charset="0"/>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PIVOT_TABLES!$M$46:$M$50</c:f>
              <c:strCache>
                <c:ptCount val="4"/>
                <c:pt idx="0">
                  <c:v>Airport</c:v>
                </c:pt>
                <c:pt idx="1">
                  <c:v>Downtown</c:v>
                </c:pt>
                <c:pt idx="2">
                  <c:v>Suburbs</c:v>
                </c:pt>
                <c:pt idx="3">
                  <c:v>Uptown</c:v>
                </c:pt>
              </c:strCache>
            </c:strRef>
          </c:cat>
          <c:val>
            <c:numRef>
              <c:f>PIVOT_TABLES!$N$46:$N$50</c:f>
              <c:numCache>
                <c:formatCode>General</c:formatCode>
                <c:ptCount val="4"/>
                <c:pt idx="0">
                  <c:v>4320</c:v>
                </c:pt>
                <c:pt idx="1">
                  <c:v>3180</c:v>
                </c:pt>
                <c:pt idx="2">
                  <c:v>3847</c:v>
                </c:pt>
                <c:pt idx="3">
                  <c:v>3915</c:v>
                </c:pt>
              </c:numCache>
            </c:numRef>
          </c:val>
          <c:extLst>
            <c:ext xmlns:c16="http://schemas.microsoft.com/office/drawing/2014/chart" uri="{C3380CC4-5D6E-409C-BE32-E72D297353CC}">
              <c16:uniqueId val="{00000000-AB47-E942-85A4-FCEC14B6A01A}"/>
            </c:ext>
          </c:extLst>
        </c:ser>
        <c:ser>
          <c:idx val="1"/>
          <c:order val="1"/>
          <c:tx>
            <c:strRef>
              <c:f>PIVOT_TABLES!$O$45</c:f>
              <c:strCache>
                <c:ptCount val="1"/>
                <c:pt idx="0">
                  <c:v>Average of Sales-Achieved</c:v>
                </c:pt>
              </c:strCache>
            </c:strRef>
          </c:tx>
          <c:spPr>
            <a:solidFill>
              <a:schemeClr val="accent6">
                <a:lumMod val="40000"/>
                <a:lumOff val="60000"/>
              </a:schemeClr>
            </a:solidFill>
            <a:ln>
              <a:noFill/>
            </a:ln>
            <a:effectLst/>
          </c:spPr>
          <c:invertIfNegative val="0"/>
          <c:dLbls>
            <c:spPr>
              <a:noFill/>
              <a:ln>
                <a:noFill/>
              </a:ln>
              <a:effectLst/>
            </c:spPr>
            <c:txPr>
              <a:bodyPr rot="-5400000" spcFirstLastPara="1" vertOverflow="ellipsis" wrap="square" lIns="38100" tIns="19050" rIns="38100" bIns="19050" anchor="ctr" anchorCtr="1">
                <a:spAutoFit/>
              </a:bodyPr>
              <a:lstStyle/>
              <a:p>
                <a:pPr>
                  <a:defRPr sz="900" b="0" i="0" u="none" strike="noStrike" kern="1200" baseline="0">
                    <a:solidFill>
                      <a:schemeClr val="bg1"/>
                    </a:solidFill>
                    <a:latin typeface="Book Antiqua" panose="02040602050305030304" pitchFamily="18" charset="0"/>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PIVOT_TABLES!$M$46:$M$50</c:f>
              <c:strCache>
                <c:ptCount val="4"/>
                <c:pt idx="0">
                  <c:v>Airport</c:v>
                </c:pt>
                <c:pt idx="1">
                  <c:v>Downtown</c:v>
                </c:pt>
                <c:pt idx="2">
                  <c:v>Suburbs</c:v>
                </c:pt>
                <c:pt idx="3">
                  <c:v>Uptown</c:v>
                </c:pt>
              </c:strCache>
            </c:strRef>
          </c:cat>
          <c:val>
            <c:numRef>
              <c:f>PIVOT_TABLES!$O$46:$O$50</c:f>
              <c:numCache>
                <c:formatCode>General</c:formatCode>
                <c:ptCount val="4"/>
                <c:pt idx="0">
                  <c:v>5157</c:v>
                </c:pt>
                <c:pt idx="1">
                  <c:v>2056</c:v>
                </c:pt>
                <c:pt idx="2">
                  <c:v>3882</c:v>
                </c:pt>
                <c:pt idx="3">
                  <c:v>1403</c:v>
                </c:pt>
              </c:numCache>
            </c:numRef>
          </c:val>
          <c:extLst>
            <c:ext xmlns:c16="http://schemas.microsoft.com/office/drawing/2014/chart" uri="{C3380CC4-5D6E-409C-BE32-E72D297353CC}">
              <c16:uniqueId val="{00000001-AB47-E942-85A4-FCEC14B6A01A}"/>
            </c:ext>
          </c:extLst>
        </c:ser>
        <c:dLbls>
          <c:showLegendKey val="0"/>
          <c:showVal val="0"/>
          <c:showCatName val="0"/>
          <c:showSerName val="0"/>
          <c:showPercent val="0"/>
          <c:showBubbleSize val="0"/>
        </c:dLbls>
        <c:gapWidth val="219"/>
        <c:overlap val="-27"/>
        <c:axId val="1534343807"/>
        <c:axId val="2039450191"/>
      </c:barChart>
      <c:catAx>
        <c:axId val="15343438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crossAx val="2039450191"/>
        <c:crosses val="autoZero"/>
        <c:auto val="1"/>
        <c:lblAlgn val="ctr"/>
        <c:lblOffset val="100"/>
        <c:noMultiLvlLbl val="0"/>
      </c:catAx>
      <c:valAx>
        <c:axId val="2039450191"/>
        <c:scaling>
          <c:orientation val="minMax"/>
        </c:scaling>
        <c:delete val="1"/>
        <c:axPos val="l"/>
        <c:numFmt formatCode="General" sourceLinked="1"/>
        <c:majorTickMark val="none"/>
        <c:minorTickMark val="none"/>
        <c:tickLblPos val="nextTo"/>
        <c:crossAx val="1534343807"/>
        <c:crosses val="autoZero"/>
        <c:crossBetween val="between"/>
      </c:valAx>
      <c:spPr>
        <a:noFill/>
        <a:ln>
          <a:noFill/>
        </a:ln>
        <a:effectLst/>
      </c:spPr>
    </c:plotArea>
    <c:legend>
      <c:legendPos val="b"/>
      <c:layout>
        <c:manualLayout>
          <c:xMode val="edge"/>
          <c:yMode val="edge"/>
          <c:x val="8.8150564314676202E-2"/>
          <c:y val="0.87889895147634822"/>
          <c:w val="0.84071686444945959"/>
          <c:h val="5.9004899240361335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bg1"/>
              </a:solidFill>
              <a:latin typeface="Book Antiqua" panose="02040602050305030304" pitchFamily="18"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7E6FE7-B8A2-7D40-9BAC-32E6C761D712}" type="datetimeFigureOut">
              <a:rPr lang="en-US" smtClean="0"/>
              <a:t>3/24/26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6BD424-5C0A-7240-A6F2-7C079AF5E2FB}" type="slidenum">
              <a:rPr lang="en-US" smtClean="0"/>
              <a:t>‹#›</a:t>
            </a:fld>
            <a:endParaRPr lang="en-US"/>
          </a:p>
        </p:txBody>
      </p:sp>
    </p:spTree>
    <p:extLst>
      <p:ext uri="{BB962C8B-B14F-4D97-AF65-F5344CB8AC3E}">
        <p14:creationId xmlns:p14="http://schemas.microsoft.com/office/powerpoint/2010/main" val="1824320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81A8B7B7-6BD6-F041-BF2E-CE23C1BCE102}" type="datetime1">
              <a:rPr lang="en-US" smtClean="0"/>
              <a:t>3/24/26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1572DF-A2C2-7C47-AD2B-C26795FB7ED9}" type="datetime1">
              <a:rPr lang="en-US" smtClean="0"/>
              <a:t>3/24/26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74EFFC76-BB52-AB46-B1FC-BC640B3DD0A8}" type="datetime1">
              <a:rPr lang="en-US" smtClean="0"/>
              <a:t>3/24/26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24A034E2-A032-0A4A-941B-41B9E22715BC}" type="datetime1">
              <a:rPr lang="en-US" smtClean="0"/>
              <a:t>3/24/26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6DD71E86-9DF9-4240-9227-EC469699E182}" type="datetime1">
              <a:rPr lang="en-US" smtClean="0"/>
              <a:t>3/24/26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82CAA3-557D-2042-9AC2-39E3F4EA4719}" type="datetime1">
              <a:rPr lang="en-US" smtClean="0"/>
              <a:t>3/24/26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72C2E8-297B-384B-9A97-317335D7B4D6}" type="datetime1">
              <a:rPr lang="en-US" smtClean="0"/>
              <a:t>3/24/26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068A898B-9248-4944-88F1-D28BEC562746}" type="datetime1">
              <a:rPr lang="en-US" smtClean="0"/>
              <a:t>3/24/26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14D07E2-A6AA-A549-A637-81FEFC89D857}" type="datetime1">
              <a:rPr lang="en-US" smtClean="0"/>
              <a:t>3/24/26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09234B-A717-E643-B9DD-0223371F2403}" type="datetime1">
              <a:rPr lang="en-US" smtClean="0"/>
              <a:t>3/24/26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3848CD5-410A-E34A-AA0E-699B4976EFD0}" type="datetime1">
              <a:rPr lang="en-US" smtClean="0"/>
              <a:t>3/24/26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861B259C-1FA3-0E4E-B940-39CC2168D88D}" type="datetime1">
              <a:rPr lang="en-US" smtClean="0"/>
              <a:t>3/24/26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hart" Target="../charts/chart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chart" Target="../charts/chart10.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BA5A543-9506-D590-D826-C118F44A8EE4}"/>
              </a:ext>
            </a:extLst>
          </p:cNvPr>
          <p:cNvSpPr>
            <a:spLocks noGrp="1"/>
          </p:cNvSpPr>
          <p:nvPr>
            <p:ph type="subTitle" idx="1"/>
          </p:nvPr>
        </p:nvSpPr>
        <p:spPr>
          <a:xfrm>
            <a:off x="669701" y="2706625"/>
            <a:ext cx="7680886" cy="1239894"/>
          </a:xfrm>
        </p:spPr>
        <p:txBody>
          <a:bodyPr>
            <a:normAutofit/>
          </a:bodyPr>
          <a:lstStyle/>
          <a:p>
            <a:pPr algn="l"/>
            <a:r>
              <a:rPr lang="en-US" sz="2800" b="1" dirty="0">
                <a:latin typeface="Garamond" panose="02020404030301010803" pitchFamily="18" charset="0"/>
              </a:rPr>
              <a:t>Key Performance Indicators and Business Insights for Years 2024 – 2026.</a:t>
            </a:r>
          </a:p>
        </p:txBody>
      </p:sp>
      <p:sp>
        <p:nvSpPr>
          <p:cNvPr id="4" name="Subtitle 2">
            <a:extLst>
              <a:ext uri="{FF2B5EF4-FFF2-40B4-BE49-F238E27FC236}">
                <a16:creationId xmlns:a16="http://schemas.microsoft.com/office/drawing/2014/main" id="{19A4A2FF-5E5B-7F1A-8B07-76C0E82A9B70}"/>
              </a:ext>
            </a:extLst>
          </p:cNvPr>
          <p:cNvSpPr txBox="1">
            <a:spLocks/>
          </p:cNvSpPr>
          <p:nvPr/>
        </p:nvSpPr>
        <p:spPr>
          <a:xfrm>
            <a:off x="669701" y="1497387"/>
            <a:ext cx="7147774" cy="1239894"/>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r>
              <a:rPr lang="en-US" sz="8000" b="1" dirty="0">
                <a:solidFill>
                  <a:schemeClr val="bg1"/>
                </a:solidFill>
                <a:effectLst/>
                <a:latin typeface="Book Antiqua" panose="02040602050305030304" pitchFamily="18" charset="0"/>
                <a:ea typeface="+mn-ea"/>
                <a:cs typeface="+mn-cs"/>
              </a:rPr>
              <a:t>Café Harmony</a:t>
            </a:r>
            <a:endParaRPr lang="en-US" sz="8000" dirty="0">
              <a:latin typeface="Garamond" panose="02020404030301010803" pitchFamily="18" charset="0"/>
            </a:endParaRPr>
          </a:p>
        </p:txBody>
      </p:sp>
      <p:pic>
        <p:nvPicPr>
          <p:cNvPr id="8" name="Picture 7">
            <a:extLst>
              <a:ext uri="{FF2B5EF4-FFF2-40B4-BE49-F238E27FC236}">
                <a16:creationId xmlns:a16="http://schemas.microsoft.com/office/drawing/2014/main" id="{AFB7849A-879C-A96A-7D94-3319D13F48B2}"/>
              </a:ext>
            </a:extLst>
          </p:cNvPr>
          <p:cNvPicPr>
            <a:picLocks noChangeAspect="1"/>
          </p:cNvPicPr>
          <p:nvPr/>
        </p:nvPicPr>
        <p:blipFill>
          <a:blip r:embed="rId2"/>
          <a:stretch>
            <a:fillRect/>
          </a:stretch>
        </p:blipFill>
        <p:spPr>
          <a:xfrm>
            <a:off x="8608344" y="884387"/>
            <a:ext cx="1841500" cy="2044700"/>
          </a:xfrm>
          <a:prstGeom prst="rect">
            <a:avLst/>
          </a:prstGeom>
        </p:spPr>
      </p:pic>
      <p:sp>
        <p:nvSpPr>
          <p:cNvPr id="12" name="Subtitle 2">
            <a:extLst>
              <a:ext uri="{FF2B5EF4-FFF2-40B4-BE49-F238E27FC236}">
                <a16:creationId xmlns:a16="http://schemas.microsoft.com/office/drawing/2014/main" id="{7C3036EC-F0BE-47E5-EC2F-7426288A2DDC}"/>
              </a:ext>
            </a:extLst>
          </p:cNvPr>
          <p:cNvSpPr txBox="1">
            <a:spLocks/>
          </p:cNvSpPr>
          <p:nvPr/>
        </p:nvSpPr>
        <p:spPr>
          <a:xfrm>
            <a:off x="1171974" y="4378731"/>
            <a:ext cx="7060553" cy="1239894"/>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r"/>
            <a:r>
              <a:rPr lang="en-US" sz="2800" b="1" dirty="0">
                <a:solidFill>
                  <a:schemeClr val="bg2"/>
                </a:solidFill>
                <a:latin typeface="Garamond" panose="02020404030301010803" pitchFamily="18" charset="0"/>
              </a:rPr>
              <a:t>By Hamzat Afe </a:t>
            </a:r>
            <a:r>
              <a:rPr lang="en-US" sz="2800" b="1" dirty="0" err="1">
                <a:solidFill>
                  <a:schemeClr val="bg2"/>
                </a:solidFill>
                <a:latin typeface="Garamond" panose="02020404030301010803" pitchFamily="18" charset="0"/>
              </a:rPr>
              <a:t>Isede</a:t>
            </a:r>
            <a:endParaRPr lang="en-US" sz="2800" b="1" dirty="0">
              <a:solidFill>
                <a:schemeClr val="bg2"/>
              </a:solidFill>
              <a:latin typeface="Garamond" panose="02020404030301010803" pitchFamily="18" charset="0"/>
            </a:endParaRPr>
          </a:p>
        </p:txBody>
      </p:sp>
    </p:spTree>
    <p:extLst>
      <p:ext uri="{BB962C8B-B14F-4D97-AF65-F5344CB8AC3E}">
        <p14:creationId xmlns:p14="http://schemas.microsoft.com/office/powerpoint/2010/main" val="2091039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6DA47AEB-2648-4DE2-D750-A9F7244B07A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822D9EC-E0DB-E180-3A58-B4586F29CBE0}"/>
              </a:ext>
            </a:extLst>
          </p:cNvPr>
          <p:cNvSpPr>
            <a:spLocks noGrp="1"/>
          </p:cNvSpPr>
          <p:nvPr>
            <p:ph type="subTitle" idx="1"/>
          </p:nvPr>
        </p:nvSpPr>
        <p:spPr>
          <a:xfrm>
            <a:off x="5689215" y="1566662"/>
            <a:ext cx="5783399" cy="4001424"/>
          </a:xfrm>
        </p:spPr>
        <p:txBody>
          <a:bodyPr>
            <a:normAutofit/>
          </a:bodyPr>
          <a:lstStyle/>
          <a:p>
            <a:pPr algn="just"/>
            <a:r>
              <a:rPr lang="en-US" sz="2800" b="1" dirty="0">
                <a:latin typeface="Garamond" panose="02020404030301010803" pitchFamily="18" charset="0"/>
              </a:rPr>
              <a:t>Café Harmony with their Customer base of 1,003 and 1,000 Employees, utilized 10 Stock items to produce 6 menus, amounting to a combined sales quantity of 3,012 and yielding a total sale of $12,590 in the period under review – 2024 to 2026. They garnered an average review of 3 stars from their customers.</a:t>
            </a:r>
          </a:p>
        </p:txBody>
      </p:sp>
      <p:sp>
        <p:nvSpPr>
          <p:cNvPr id="4" name="Subtitle 2">
            <a:extLst>
              <a:ext uri="{FF2B5EF4-FFF2-40B4-BE49-F238E27FC236}">
                <a16:creationId xmlns:a16="http://schemas.microsoft.com/office/drawing/2014/main" id="{6BCE73C1-299D-BD85-468B-1D0855FE48A2}"/>
              </a:ext>
            </a:extLst>
          </p:cNvPr>
          <p:cNvSpPr txBox="1">
            <a:spLocks/>
          </p:cNvSpPr>
          <p:nvPr/>
        </p:nvSpPr>
        <p:spPr>
          <a:xfrm>
            <a:off x="669700" y="502277"/>
            <a:ext cx="9362942" cy="643944"/>
          </a:xfrm>
          <a:prstGeom prst="rect">
            <a:avLst/>
          </a:prstGeom>
          <a:noFill/>
        </p:spPr>
        <p:txBody>
          <a:bodyPr vert="horz" lIns="91440" tIns="45720" rIns="91440" bIns="45720" rtlCol="0">
            <a:normAutofit/>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buNone/>
            </a:pPr>
            <a:r>
              <a:rPr lang="en-US" sz="3200" b="1" dirty="0">
                <a:solidFill>
                  <a:schemeClr val="bg1"/>
                </a:solidFill>
                <a:effectLst/>
                <a:latin typeface="Book Antiqua" panose="02040602050305030304" pitchFamily="18" charset="0"/>
                <a:ea typeface="+mn-ea"/>
                <a:cs typeface="+mn-cs"/>
              </a:rPr>
              <a:t>Key Performance Indicators (KPI)</a:t>
            </a:r>
            <a:endParaRPr lang="en-US" sz="2800" dirty="0">
              <a:effectLst/>
              <a:latin typeface="Helvetica" pitchFamily="2" charset="0"/>
            </a:endParaRPr>
          </a:p>
        </p:txBody>
      </p:sp>
      <p:grpSp>
        <p:nvGrpSpPr>
          <p:cNvPr id="6" name="Group 5">
            <a:extLst>
              <a:ext uri="{FF2B5EF4-FFF2-40B4-BE49-F238E27FC236}">
                <a16:creationId xmlns:a16="http://schemas.microsoft.com/office/drawing/2014/main" id="{14E576CD-FC3C-FC80-0BBF-180E4F6ED753}"/>
              </a:ext>
            </a:extLst>
          </p:cNvPr>
          <p:cNvGrpSpPr/>
          <p:nvPr/>
        </p:nvGrpSpPr>
        <p:grpSpPr>
          <a:xfrm>
            <a:off x="10924791" y="5687572"/>
            <a:ext cx="1267209" cy="1170428"/>
            <a:chOff x="10924791" y="5687572"/>
            <a:chExt cx="1267209" cy="1170428"/>
          </a:xfrm>
        </p:grpSpPr>
        <p:pic>
          <p:nvPicPr>
            <p:cNvPr id="8" name="Picture 7">
              <a:extLst>
                <a:ext uri="{FF2B5EF4-FFF2-40B4-BE49-F238E27FC236}">
                  <a16:creationId xmlns:a16="http://schemas.microsoft.com/office/drawing/2014/main" id="{732C5C2C-0772-E307-6435-4AA2C012F792}"/>
                </a:ext>
              </a:extLst>
            </p:cNvPr>
            <p:cNvPicPr>
              <a:picLocks noChangeAspect="1"/>
            </p:cNvPicPr>
            <p:nvPr/>
          </p:nvPicPr>
          <p:blipFill>
            <a:blip r:embed="rId2"/>
            <a:stretch>
              <a:fillRect/>
            </a:stretch>
          </p:blipFill>
          <p:spPr>
            <a:xfrm>
              <a:off x="10924791" y="5687572"/>
              <a:ext cx="954607" cy="1059943"/>
            </a:xfrm>
            <a:prstGeom prst="rect">
              <a:avLst/>
            </a:prstGeom>
          </p:spPr>
        </p:pic>
        <p:sp>
          <p:nvSpPr>
            <p:cNvPr id="5" name="Subtitle 2">
              <a:extLst>
                <a:ext uri="{FF2B5EF4-FFF2-40B4-BE49-F238E27FC236}">
                  <a16:creationId xmlns:a16="http://schemas.microsoft.com/office/drawing/2014/main" id="{08E0FF68-3203-436D-47C6-422B26D1E3BB}"/>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grpSp>
        <p:nvGrpSpPr>
          <p:cNvPr id="36" name="Group 35">
            <a:extLst>
              <a:ext uri="{FF2B5EF4-FFF2-40B4-BE49-F238E27FC236}">
                <a16:creationId xmlns:a16="http://schemas.microsoft.com/office/drawing/2014/main" id="{7BD37705-ADBF-6981-886B-956EB1CFA9BE}"/>
              </a:ext>
            </a:extLst>
          </p:cNvPr>
          <p:cNvGrpSpPr/>
          <p:nvPr/>
        </p:nvGrpSpPr>
        <p:grpSpPr>
          <a:xfrm>
            <a:off x="811506" y="1566662"/>
            <a:ext cx="4539665" cy="4214789"/>
            <a:chOff x="811506" y="1566662"/>
            <a:chExt cx="4539665" cy="4214789"/>
          </a:xfrm>
        </p:grpSpPr>
        <p:grpSp>
          <p:nvGrpSpPr>
            <p:cNvPr id="35" name="Group 34">
              <a:extLst>
                <a:ext uri="{FF2B5EF4-FFF2-40B4-BE49-F238E27FC236}">
                  <a16:creationId xmlns:a16="http://schemas.microsoft.com/office/drawing/2014/main" id="{E6670D4C-493C-F73C-B361-1E6F1FB6CEC0}"/>
                </a:ext>
              </a:extLst>
            </p:cNvPr>
            <p:cNvGrpSpPr/>
            <p:nvPr/>
          </p:nvGrpSpPr>
          <p:grpSpPr>
            <a:xfrm>
              <a:off x="811506" y="1566662"/>
              <a:ext cx="2000424" cy="1219198"/>
              <a:chOff x="811506" y="1566662"/>
              <a:chExt cx="2000424" cy="1219198"/>
            </a:xfrm>
          </p:grpSpPr>
          <p:sp>
            <p:nvSpPr>
              <p:cNvPr id="34" name="Rounded Rectangle 33">
                <a:extLst>
                  <a:ext uri="{FF2B5EF4-FFF2-40B4-BE49-F238E27FC236}">
                    <a16:creationId xmlns:a16="http://schemas.microsoft.com/office/drawing/2014/main" id="{1F20E020-09E6-EF4E-9F89-6B92E8DCB634}"/>
                  </a:ext>
                </a:extLst>
              </p:cNvPr>
              <p:cNvSpPr/>
              <p:nvPr/>
            </p:nvSpPr>
            <p:spPr>
              <a:xfrm>
                <a:off x="811506" y="1566662"/>
                <a:ext cx="2000424" cy="121919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fld id="{E371019C-E3A4-0842-B484-B1D92B339C66}" type="TxLink">
                  <a:rPr lang="en-US" sz="2800" b="1" smtClean="0">
                    <a:solidFill>
                      <a:schemeClr val="bg1"/>
                    </a:solidFill>
                    <a:latin typeface="Book Antiqua" panose="02040602050305030304" pitchFamily="18" charset="0"/>
                    <a:cs typeface="Calibri"/>
                  </a:rPr>
                  <a:pPr algn="ctr"/>
                  <a:t> $12,589.95 </a:t>
                </a:fld>
                <a:endParaRPr lang="en-US" sz="2800" b="1" dirty="0">
                  <a:solidFill>
                    <a:schemeClr val="bg1"/>
                  </a:solidFill>
                  <a:latin typeface="Book Antiqua" panose="02040602050305030304" pitchFamily="18" charset="0"/>
                  <a:cs typeface="Calibri"/>
                </a:endParaRPr>
              </a:p>
            </p:txBody>
          </p:sp>
          <p:sp>
            <p:nvSpPr>
              <p:cNvPr id="9" name="TextBox 6">
                <a:extLst>
                  <a:ext uri="{FF2B5EF4-FFF2-40B4-BE49-F238E27FC236}">
                    <a16:creationId xmlns:a16="http://schemas.microsoft.com/office/drawing/2014/main" id="{3B8D8288-EBD8-314C-976E-EF8A24C2226D}"/>
                  </a:ext>
                </a:extLst>
              </p:cNvPr>
              <p:cNvSpPr txBox="1"/>
              <p:nvPr/>
            </p:nvSpPr>
            <p:spPr>
              <a:xfrm>
                <a:off x="1035765" y="1686149"/>
                <a:ext cx="1131015" cy="31750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dirty="0">
                    <a:solidFill>
                      <a:schemeClr val="bg1"/>
                    </a:solidFill>
                    <a:effectLst/>
                    <a:latin typeface="Book Antiqua" panose="02040602050305030304" pitchFamily="18" charset="0"/>
                    <a:ea typeface="+mn-ea"/>
                    <a:cs typeface="+mn-cs"/>
                  </a:rPr>
                  <a:t> Total Sale</a:t>
                </a:r>
              </a:p>
            </p:txBody>
          </p:sp>
        </p:grpSp>
        <p:grpSp>
          <p:nvGrpSpPr>
            <p:cNvPr id="13" name="Group 12">
              <a:extLst>
                <a:ext uri="{FF2B5EF4-FFF2-40B4-BE49-F238E27FC236}">
                  <a16:creationId xmlns:a16="http://schemas.microsoft.com/office/drawing/2014/main" id="{202ECEDD-4987-C280-E301-CFABF01F5547}"/>
                </a:ext>
              </a:extLst>
            </p:cNvPr>
            <p:cNvGrpSpPr/>
            <p:nvPr/>
          </p:nvGrpSpPr>
          <p:grpSpPr>
            <a:xfrm>
              <a:off x="832920" y="3024477"/>
              <a:ext cx="2000429" cy="1219200"/>
              <a:chOff x="832920" y="3024477"/>
              <a:chExt cx="2000429" cy="1219200"/>
            </a:xfrm>
          </p:grpSpPr>
          <p:sp>
            <p:nvSpPr>
              <p:cNvPr id="10" name="Rounded Rectangle 9">
                <a:extLst>
                  <a:ext uri="{FF2B5EF4-FFF2-40B4-BE49-F238E27FC236}">
                    <a16:creationId xmlns:a16="http://schemas.microsoft.com/office/drawing/2014/main" id="{13936409-CDD2-8545-98EA-3DCA9F5800D0}"/>
                  </a:ext>
                </a:extLst>
              </p:cNvPr>
              <p:cNvSpPr/>
              <p:nvPr/>
            </p:nvSpPr>
            <p:spPr>
              <a:xfrm>
                <a:off x="832920" y="3024477"/>
                <a:ext cx="2000429" cy="12192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3300" b="1" dirty="0">
                    <a:solidFill>
                      <a:schemeClr val="bg1"/>
                    </a:solidFill>
                    <a:latin typeface="Book Antiqua" panose="02040602050305030304" pitchFamily="18" charset="0"/>
                    <a:cs typeface="Calibri"/>
                  </a:rPr>
                  <a:t>3,012</a:t>
                </a:r>
              </a:p>
            </p:txBody>
          </p:sp>
          <p:sp>
            <p:nvSpPr>
              <p:cNvPr id="12" name="TextBox 7">
                <a:extLst>
                  <a:ext uri="{FF2B5EF4-FFF2-40B4-BE49-F238E27FC236}">
                    <a16:creationId xmlns:a16="http://schemas.microsoft.com/office/drawing/2014/main" id="{A91E66AD-50AB-5843-86C4-C83A68E52A7D}"/>
                  </a:ext>
                </a:extLst>
              </p:cNvPr>
              <p:cNvSpPr txBox="1"/>
              <p:nvPr/>
            </p:nvSpPr>
            <p:spPr>
              <a:xfrm>
                <a:off x="1071135" y="3111500"/>
                <a:ext cx="1524000" cy="31750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dirty="0">
                    <a:solidFill>
                      <a:schemeClr val="bg1"/>
                    </a:solidFill>
                    <a:effectLst/>
                    <a:latin typeface="Book Antiqua" panose="02040602050305030304" pitchFamily="18" charset="0"/>
                    <a:ea typeface="+mn-ea"/>
                    <a:cs typeface="+mn-cs"/>
                  </a:rPr>
                  <a:t>Total Quantity</a:t>
                </a:r>
              </a:p>
            </p:txBody>
          </p:sp>
        </p:grpSp>
        <p:grpSp>
          <p:nvGrpSpPr>
            <p:cNvPr id="19" name="Group 18">
              <a:extLst>
                <a:ext uri="{FF2B5EF4-FFF2-40B4-BE49-F238E27FC236}">
                  <a16:creationId xmlns:a16="http://schemas.microsoft.com/office/drawing/2014/main" id="{1E406606-1E9E-EDF2-4CF0-55338C1CA5C9}"/>
                </a:ext>
              </a:extLst>
            </p:cNvPr>
            <p:cNvGrpSpPr/>
            <p:nvPr/>
          </p:nvGrpSpPr>
          <p:grpSpPr>
            <a:xfrm>
              <a:off x="832921" y="4562251"/>
              <a:ext cx="2000428" cy="1219200"/>
              <a:chOff x="832921" y="4562251"/>
              <a:chExt cx="2000428" cy="1219200"/>
            </a:xfrm>
          </p:grpSpPr>
          <p:sp>
            <p:nvSpPr>
              <p:cNvPr id="14" name="Rounded Rectangle 13">
                <a:extLst>
                  <a:ext uri="{FF2B5EF4-FFF2-40B4-BE49-F238E27FC236}">
                    <a16:creationId xmlns:a16="http://schemas.microsoft.com/office/drawing/2014/main" id="{9A9B311F-F296-8B40-8440-6BC4958D598E}"/>
                  </a:ext>
                </a:extLst>
              </p:cNvPr>
              <p:cNvSpPr/>
              <p:nvPr/>
            </p:nvSpPr>
            <p:spPr>
              <a:xfrm>
                <a:off x="832921" y="4562251"/>
                <a:ext cx="2000428" cy="12192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fld id="{4720693E-52C0-024A-BE8E-72D564468C3C}" type="TxLink">
                  <a:rPr lang="en-US" sz="3300" b="1">
                    <a:solidFill>
                      <a:schemeClr val="bg1"/>
                    </a:solidFill>
                    <a:latin typeface="Book Antiqua" panose="02040602050305030304" pitchFamily="18" charset="0"/>
                    <a:cs typeface="Calibri"/>
                  </a:rPr>
                  <a:pPr algn="ctr"/>
                  <a:t>10</a:t>
                </a:fld>
                <a:endParaRPr lang="en-US" sz="3300" b="1">
                  <a:solidFill>
                    <a:schemeClr val="bg1"/>
                  </a:solidFill>
                  <a:latin typeface="Book Antiqua" panose="02040602050305030304" pitchFamily="18" charset="0"/>
                  <a:cs typeface="Calibri"/>
                </a:endParaRPr>
              </a:p>
            </p:txBody>
          </p:sp>
          <p:sp>
            <p:nvSpPr>
              <p:cNvPr id="15" name="TextBox 8">
                <a:extLst>
                  <a:ext uri="{FF2B5EF4-FFF2-40B4-BE49-F238E27FC236}">
                    <a16:creationId xmlns:a16="http://schemas.microsoft.com/office/drawing/2014/main" id="{65CC36F6-9725-0C4B-92F8-7127E859D44A}"/>
                  </a:ext>
                </a:extLst>
              </p:cNvPr>
              <p:cNvSpPr txBox="1"/>
              <p:nvPr/>
            </p:nvSpPr>
            <p:spPr>
              <a:xfrm>
                <a:off x="1174143" y="4653339"/>
                <a:ext cx="1317981" cy="31750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dirty="0">
                    <a:solidFill>
                      <a:schemeClr val="bg1"/>
                    </a:solidFill>
                    <a:effectLst/>
                    <a:latin typeface="Book Antiqua" panose="02040602050305030304" pitchFamily="18" charset="0"/>
                    <a:ea typeface="+mn-ea"/>
                    <a:cs typeface="+mn-cs"/>
                  </a:rPr>
                  <a:t>Stock Items</a:t>
                </a:r>
              </a:p>
            </p:txBody>
          </p:sp>
        </p:grpSp>
        <p:grpSp>
          <p:nvGrpSpPr>
            <p:cNvPr id="20" name="Group 19">
              <a:extLst>
                <a:ext uri="{FF2B5EF4-FFF2-40B4-BE49-F238E27FC236}">
                  <a16:creationId xmlns:a16="http://schemas.microsoft.com/office/drawing/2014/main" id="{ABA3D60B-B2E9-D12E-0CB5-49BC0EF33609}"/>
                </a:ext>
              </a:extLst>
            </p:cNvPr>
            <p:cNvGrpSpPr/>
            <p:nvPr/>
          </p:nvGrpSpPr>
          <p:grpSpPr>
            <a:xfrm>
              <a:off x="3350744" y="1566662"/>
              <a:ext cx="2000427" cy="1206500"/>
              <a:chOff x="3350744" y="1566662"/>
              <a:chExt cx="2000427" cy="1206500"/>
            </a:xfrm>
          </p:grpSpPr>
          <p:sp>
            <p:nvSpPr>
              <p:cNvPr id="17" name="Rounded Rectangle 16">
                <a:extLst>
                  <a:ext uri="{FF2B5EF4-FFF2-40B4-BE49-F238E27FC236}">
                    <a16:creationId xmlns:a16="http://schemas.microsoft.com/office/drawing/2014/main" id="{138C0188-A52A-5040-924D-906A87FDAFA6}"/>
                  </a:ext>
                </a:extLst>
              </p:cNvPr>
              <p:cNvSpPr/>
              <p:nvPr/>
            </p:nvSpPr>
            <p:spPr>
              <a:xfrm>
                <a:off x="3350744" y="1566662"/>
                <a:ext cx="2000427" cy="1206500"/>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3300" b="1" dirty="0">
                    <a:solidFill>
                      <a:schemeClr val="bg1"/>
                    </a:solidFill>
                    <a:latin typeface="Book Antiqua" panose="02040602050305030304" pitchFamily="18" charset="0"/>
                    <a:cs typeface="Calibri"/>
                  </a:rPr>
                  <a:t>1,003</a:t>
                </a:r>
              </a:p>
            </p:txBody>
          </p:sp>
          <p:sp>
            <p:nvSpPr>
              <p:cNvPr id="18" name="TextBox 9">
                <a:extLst>
                  <a:ext uri="{FF2B5EF4-FFF2-40B4-BE49-F238E27FC236}">
                    <a16:creationId xmlns:a16="http://schemas.microsoft.com/office/drawing/2014/main" id="{01825B21-9DA0-9D42-B7B7-B399EC7BCEB8}"/>
                  </a:ext>
                </a:extLst>
              </p:cNvPr>
              <p:cNvSpPr txBox="1"/>
              <p:nvPr/>
            </p:nvSpPr>
            <p:spPr>
              <a:xfrm>
                <a:off x="3688791" y="1609099"/>
                <a:ext cx="1324331" cy="31750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dirty="0">
                    <a:solidFill>
                      <a:schemeClr val="bg1"/>
                    </a:solidFill>
                    <a:effectLst/>
                    <a:latin typeface="Book Antiqua" panose="02040602050305030304" pitchFamily="18" charset="0"/>
                    <a:ea typeface="+mn-ea"/>
                    <a:cs typeface="+mn-cs"/>
                  </a:rPr>
                  <a:t>Customers</a:t>
                </a:r>
              </a:p>
            </p:txBody>
          </p:sp>
        </p:grpSp>
        <p:grpSp>
          <p:nvGrpSpPr>
            <p:cNvPr id="23" name="Group 22">
              <a:extLst>
                <a:ext uri="{FF2B5EF4-FFF2-40B4-BE49-F238E27FC236}">
                  <a16:creationId xmlns:a16="http://schemas.microsoft.com/office/drawing/2014/main" id="{1831224B-E8F5-83D4-BC52-A8E4B262D297}"/>
                </a:ext>
              </a:extLst>
            </p:cNvPr>
            <p:cNvGrpSpPr/>
            <p:nvPr/>
          </p:nvGrpSpPr>
          <p:grpSpPr>
            <a:xfrm>
              <a:off x="3350743" y="3024477"/>
              <a:ext cx="2000426" cy="1219199"/>
              <a:chOff x="3350743" y="3024477"/>
              <a:chExt cx="2000426" cy="1219199"/>
            </a:xfrm>
          </p:grpSpPr>
          <p:sp>
            <p:nvSpPr>
              <p:cNvPr id="21" name="Rounded Rectangle 20">
                <a:extLst>
                  <a:ext uri="{FF2B5EF4-FFF2-40B4-BE49-F238E27FC236}">
                    <a16:creationId xmlns:a16="http://schemas.microsoft.com/office/drawing/2014/main" id="{F10AAE27-2814-3757-9E10-523E9239F319}"/>
                  </a:ext>
                </a:extLst>
              </p:cNvPr>
              <p:cNvSpPr/>
              <p:nvPr/>
            </p:nvSpPr>
            <p:spPr>
              <a:xfrm>
                <a:off x="3350743" y="3024477"/>
                <a:ext cx="2000426" cy="1219199"/>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3300" b="1" dirty="0">
                    <a:solidFill>
                      <a:schemeClr val="bg1"/>
                    </a:solidFill>
                    <a:latin typeface="Book Antiqua" panose="02040602050305030304" pitchFamily="18" charset="0"/>
                    <a:cs typeface="Calibri"/>
                  </a:rPr>
                  <a:t>1,000</a:t>
                </a:r>
              </a:p>
            </p:txBody>
          </p:sp>
          <p:sp>
            <p:nvSpPr>
              <p:cNvPr id="22" name="TextBox 11">
                <a:extLst>
                  <a:ext uri="{FF2B5EF4-FFF2-40B4-BE49-F238E27FC236}">
                    <a16:creationId xmlns:a16="http://schemas.microsoft.com/office/drawing/2014/main" id="{DB85BA54-71C6-E450-20D7-3189EAFF5EBD}"/>
                  </a:ext>
                </a:extLst>
              </p:cNvPr>
              <p:cNvSpPr txBox="1"/>
              <p:nvPr/>
            </p:nvSpPr>
            <p:spPr>
              <a:xfrm>
                <a:off x="3628690" y="3037693"/>
                <a:ext cx="1317981" cy="31750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dirty="0">
                    <a:solidFill>
                      <a:schemeClr val="bg1"/>
                    </a:solidFill>
                    <a:effectLst/>
                    <a:latin typeface="Book Antiqua" panose="02040602050305030304" pitchFamily="18" charset="0"/>
                    <a:ea typeface="+mn-ea"/>
                    <a:cs typeface="+mn-cs"/>
                  </a:rPr>
                  <a:t>Employees</a:t>
                </a:r>
              </a:p>
            </p:txBody>
          </p:sp>
        </p:grpSp>
        <p:grpSp>
          <p:nvGrpSpPr>
            <p:cNvPr id="33" name="Group 32">
              <a:extLst>
                <a:ext uri="{FF2B5EF4-FFF2-40B4-BE49-F238E27FC236}">
                  <a16:creationId xmlns:a16="http://schemas.microsoft.com/office/drawing/2014/main" id="{4A2933BC-D590-0000-B74B-8DFCD301F505}"/>
                </a:ext>
              </a:extLst>
            </p:cNvPr>
            <p:cNvGrpSpPr/>
            <p:nvPr/>
          </p:nvGrpSpPr>
          <p:grpSpPr>
            <a:xfrm>
              <a:off x="3350743" y="4562251"/>
              <a:ext cx="2000425" cy="1219198"/>
              <a:chOff x="3350743" y="4562251"/>
              <a:chExt cx="2000425" cy="1219198"/>
            </a:xfrm>
          </p:grpSpPr>
          <p:sp>
            <p:nvSpPr>
              <p:cNvPr id="27" name="Rounded Rectangle 26">
                <a:extLst>
                  <a:ext uri="{FF2B5EF4-FFF2-40B4-BE49-F238E27FC236}">
                    <a16:creationId xmlns:a16="http://schemas.microsoft.com/office/drawing/2014/main" id="{F4E57539-5791-AB6A-AF02-854837554878}"/>
                  </a:ext>
                </a:extLst>
              </p:cNvPr>
              <p:cNvSpPr/>
              <p:nvPr/>
            </p:nvSpPr>
            <p:spPr>
              <a:xfrm>
                <a:off x="3350743" y="4562251"/>
                <a:ext cx="2000425" cy="1219198"/>
              </a:xfrm>
              <a:prstGeom prst="round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fld id="{E9CF1490-E289-E443-A494-1FB3F6435354}" type="TxLink">
                  <a:rPr lang="en-US" sz="3300" b="1">
                    <a:solidFill>
                      <a:schemeClr val="bg1"/>
                    </a:solidFill>
                    <a:latin typeface="Book Antiqua" panose="02040602050305030304" pitchFamily="18" charset="0"/>
                    <a:cs typeface="Calibri"/>
                  </a:rPr>
                  <a:pPr algn="ctr"/>
                  <a:t>3</a:t>
                </a:fld>
                <a:endParaRPr lang="en-US" sz="3300" b="1">
                  <a:solidFill>
                    <a:schemeClr val="bg1"/>
                  </a:solidFill>
                  <a:latin typeface="Book Antiqua" panose="02040602050305030304" pitchFamily="18" charset="0"/>
                  <a:cs typeface="Calibri"/>
                </a:endParaRPr>
              </a:p>
            </p:txBody>
          </p:sp>
          <p:sp>
            <p:nvSpPr>
              <p:cNvPr id="28" name="TextBox 27">
                <a:extLst>
                  <a:ext uri="{FF2B5EF4-FFF2-40B4-BE49-F238E27FC236}">
                    <a16:creationId xmlns:a16="http://schemas.microsoft.com/office/drawing/2014/main" id="{BE712332-A2A2-E432-8A65-3C6EE9B7C4F6}"/>
                  </a:ext>
                </a:extLst>
              </p:cNvPr>
              <p:cNvSpPr txBox="1"/>
              <p:nvPr/>
            </p:nvSpPr>
            <p:spPr>
              <a:xfrm>
                <a:off x="3588955" y="4599904"/>
                <a:ext cx="1524000" cy="317500"/>
              </a:xfrm>
              <a:prstGeom prst="rect">
                <a:avLst/>
              </a:prstGeom>
              <a:noFill/>
            </p:spPr>
            <p:style>
              <a:lnRef idx="0">
                <a:scrgbClr r="0" g="0" b="0"/>
              </a:lnRef>
              <a:fillRef idx="0">
                <a:scrgbClr r="0" g="0" b="0"/>
              </a:fillRef>
              <a:effectRef idx="0">
                <a:scrgbClr r="0" g="0" b="0"/>
              </a:effectRef>
              <a:fontRef idx="minor">
                <a:schemeClr val="tx1"/>
              </a:fontRef>
            </p:style>
            <p:txBody>
              <a:bodyPr wrap="none" rtlCol="0" anchor="t">
                <a:no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a:solidFill>
                      <a:schemeClr val="bg1"/>
                    </a:solidFill>
                    <a:effectLst/>
                    <a:latin typeface="Book Antiqua" panose="02040602050305030304" pitchFamily="18" charset="0"/>
                    <a:ea typeface="+mn-ea"/>
                    <a:cs typeface="+mn-cs"/>
                  </a:rPr>
                  <a:t>Average Rating</a:t>
                </a:r>
              </a:p>
            </p:txBody>
          </p:sp>
          <p:grpSp>
            <p:nvGrpSpPr>
              <p:cNvPr id="29" name="Group 28">
                <a:extLst>
                  <a:ext uri="{FF2B5EF4-FFF2-40B4-BE49-F238E27FC236}">
                    <a16:creationId xmlns:a16="http://schemas.microsoft.com/office/drawing/2014/main" id="{89664414-416C-CE9A-41D9-DDB7A29ACA11}"/>
                  </a:ext>
                </a:extLst>
              </p:cNvPr>
              <p:cNvGrpSpPr/>
              <p:nvPr/>
            </p:nvGrpSpPr>
            <p:grpSpPr>
              <a:xfrm>
                <a:off x="3868580" y="5344672"/>
                <a:ext cx="838200" cy="342900"/>
                <a:chOff x="0" y="0"/>
                <a:chExt cx="838200" cy="342900"/>
              </a:xfrm>
            </p:grpSpPr>
            <p:sp>
              <p:nvSpPr>
                <p:cNvPr id="30" name="5-Point Star 29">
                  <a:extLst>
                    <a:ext uri="{FF2B5EF4-FFF2-40B4-BE49-F238E27FC236}">
                      <a16:creationId xmlns:a16="http://schemas.microsoft.com/office/drawing/2014/main" id="{DD6E2F1B-9C40-67EB-E9FE-F9B00D084F4D}"/>
                    </a:ext>
                  </a:extLst>
                </p:cNvPr>
                <p:cNvSpPr/>
                <p:nvPr/>
              </p:nvSpPr>
              <p:spPr>
                <a:xfrm>
                  <a:off x="0" y="12700"/>
                  <a:ext cx="266700" cy="330200"/>
                </a:xfrm>
                <a:prstGeom prst="star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31" name="5-Point Star 30">
                  <a:extLst>
                    <a:ext uri="{FF2B5EF4-FFF2-40B4-BE49-F238E27FC236}">
                      <a16:creationId xmlns:a16="http://schemas.microsoft.com/office/drawing/2014/main" id="{90E0777D-A3DC-3EF3-A2DD-986C8C073B3D}"/>
                    </a:ext>
                  </a:extLst>
                </p:cNvPr>
                <p:cNvSpPr/>
                <p:nvPr/>
              </p:nvSpPr>
              <p:spPr>
                <a:xfrm>
                  <a:off x="279400" y="0"/>
                  <a:ext cx="266700" cy="330200"/>
                </a:xfrm>
                <a:prstGeom prst="star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sp>
              <p:nvSpPr>
                <p:cNvPr id="32" name="5-Point Star 31">
                  <a:extLst>
                    <a:ext uri="{FF2B5EF4-FFF2-40B4-BE49-F238E27FC236}">
                      <a16:creationId xmlns:a16="http://schemas.microsoft.com/office/drawing/2014/main" id="{FE412705-6001-6C0E-BF2F-5484E5087A7C}"/>
                    </a:ext>
                  </a:extLst>
                </p:cNvPr>
                <p:cNvSpPr/>
                <p:nvPr/>
              </p:nvSpPr>
              <p:spPr>
                <a:xfrm>
                  <a:off x="571500" y="0"/>
                  <a:ext cx="266700" cy="330200"/>
                </a:xfrm>
                <a:prstGeom prst="star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p>
              </p:txBody>
            </p:sp>
          </p:grpSp>
        </p:grpSp>
      </p:grpSp>
      <p:sp>
        <p:nvSpPr>
          <p:cNvPr id="37" name="TextBox 36">
            <a:extLst>
              <a:ext uri="{FF2B5EF4-FFF2-40B4-BE49-F238E27FC236}">
                <a16:creationId xmlns:a16="http://schemas.microsoft.com/office/drawing/2014/main" id="{14278F05-225E-662B-50DF-835CC7439943}"/>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02</a:t>
            </a:r>
          </a:p>
        </p:txBody>
      </p:sp>
    </p:spTree>
    <p:extLst>
      <p:ext uri="{BB962C8B-B14F-4D97-AF65-F5344CB8AC3E}">
        <p14:creationId xmlns:p14="http://schemas.microsoft.com/office/powerpoint/2010/main" val="3128674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64CA2F90-F1B4-4E15-DC00-AA43C3CB5A7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054BF88-F044-AB85-C252-C73F20E52CCC}"/>
              </a:ext>
            </a:extLst>
          </p:cNvPr>
          <p:cNvSpPr>
            <a:spLocks noGrp="1"/>
          </p:cNvSpPr>
          <p:nvPr>
            <p:ph type="subTitle" idx="1"/>
          </p:nvPr>
        </p:nvSpPr>
        <p:spPr>
          <a:xfrm>
            <a:off x="6890197" y="1252797"/>
            <a:ext cx="4989202" cy="4324289"/>
          </a:xfrm>
        </p:spPr>
        <p:txBody>
          <a:bodyPr>
            <a:normAutofit fontScale="92500" lnSpcReduction="20000"/>
          </a:bodyPr>
          <a:lstStyle/>
          <a:p>
            <a:pPr algn="just"/>
            <a:r>
              <a:rPr lang="en-US" sz="2800" b="1" dirty="0">
                <a:latin typeface="Garamond" panose="02020404030301010803" pitchFamily="18" charset="0"/>
              </a:rPr>
              <a:t>The trend of Total Sales across the 3 years under review indicate that Total sales primarily peaks in August. May and March also experience lesser peaks.</a:t>
            </a:r>
          </a:p>
          <a:p>
            <a:pPr algn="just"/>
            <a:r>
              <a:rPr lang="en-US" sz="2800" b="1" dirty="0">
                <a:latin typeface="Garamond" panose="02020404030301010803" pitchFamily="18" charset="0"/>
              </a:rPr>
              <a:t>The month that has the least Total sales is November, with surrounding months of October and December following suit. February and June also experience troughs in the Total Sales trend.</a:t>
            </a:r>
          </a:p>
        </p:txBody>
      </p:sp>
      <p:graphicFrame>
        <p:nvGraphicFramePr>
          <p:cNvPr id="2" name="Chart 1">
            <a:extLst>
              <a:ext uri="{FF2B5EF4-FFF2-40B4-BE49-F238E27FC236}">
                <a16:creationId xmlns:a16="http://schemas.microsoft.com/office/drawing/2014/main" id="{86737938-6639-5445-8FF7-0CAFE870F01C}"/>
              </a:ext>
            </a:extLst>
          </p:cNvPr>
          <p:cNvGraphicFramePr>
            <a:graphicFrameLocks/>
          </p:cNvGraphicFramePr>
          <p:nvPr>
            <p:extLst>
              <p:ext uri="{D42A27DB-BD31-4B8C-83A1-F6EECF244321}">
                <p14:modId xmlns:p14="http://schemas.microsoft.com/office/powerpoint/2010/main" val="1520805080"/>
              </p:ext>
            </p:extLst>
          </p:nvPr>
        </p:nvGraphicFramePr>
        <p:xfrm>
          <a:off x="554687" y="940158"/>
          <a:ext cx="6554451" cy="4554559"/>
        </p:xfrm>
        <a:graphic>
          <a:graphicData uri="http://schemas.openxmlformats.org/drawingml/2006/chart">
            <c:chart xmlns:c="http://schemas.openxmlformats.org/drawingml/2006/chart" xmlns:r="http://schemas.openxmlformats.org/officeDocument/2006/relationships" r:id="rId2"/>
          </a:graphicData>
        </a:graphic>
      </p:graphicFrame>
      <p:grpSp>
        <p:nvGrpSpPr>
          <p:cNvPr id="6" name="Group 5">
            <a:extLst>
              <a:ext uri="{FF2B5EF4-FFF2-40B4-BE49-F238E27FC236}">
                <a16:creationId xmlns:a16="http://schemas.microsoft.com/office/drawing/2014/main" id="{977B726A-6E92-BBD4-2705-2965D23FD5BD}"/>
              </a:ext>
            </a:extLst>
          </p:cNvPr>
          <p:cNvGrpSpPr/>
          <p:nvPr/>
        </p:nvGrpSpPr>
        <p:grpSpPr>
          <a:xfrm>
            <a:off x="10924791" y="5687572"/>
            <a:ext cx="1267209" cy="1170428"/>
            <a:chOff x="10924791" y="5687572"/>
            <a:chExt cx="1267209" cy="1170428"/>
          </a:xfrm>
        </p:grpSpPr>
        <p:pic>
          <p:nvPicPr>
            <p:cNvPr id="7" name="Picture 6">
              <a:extLst>
                <a:ext uri="{FF2B5EF4-FFF2-40B4-BE49-F238E27FC236}">
                  <a16:creationId xmlns:a16="http://schemas.microsoft.com/office/drawing/2014/main" id="{700FFB58-7EA0-F477-136F-42FC42479A4F}"/>
                </a:ext>
              </a:extLst>
            </p:cNvPr>
            <p:cNvPicPr>
              <a:picLocks noChangeAspect="1"/>
            </p:cNvPicPr>
            <p:nvPr/>
          </p:nvPicPr>
          <p:blipFill>
            <a:blip r:embed="rId3"/>
            <a:stretch>
              <a:fillRect/>
            </a:stretch>
          </p:blipFill>
          <p:spPr>
            <a:xfrm>
              <a:off x="10924791" y="5687572"/>
              <a:ext cx="954607" cy="1059943"/>
            </a:xfrm>
            <a:prstGeom prst="rect">
              <a:avLst/>
            </a:prstGeom>
          </p:spPr>
        </p:pic>
        <p:sp>
          <p:nvSpPr>
            <p:cNvPr id="9" name="Subtitle 2">
              <a:extLst>
                <a:ext uri="{FF2B5EF4-FFF2-40B4-BE49-F238E27FC236}">
                  <a16:creationId xmlns:a16="http://schemas.microsoft.com/office/drawing/2014/main" id="{A74D7A15-699D-1421-CC75-7619C8478A54}"/>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10" name="TextBox 9">
            <a:extLst>
              <a:ext uri="{FF2B5EF4-FFF2-40B4-BE49-F238E27FC236}">
                <a16:creationId xmlns:a16="http://schemas.microsoft.com/office/drawing/2014/main" id="{AF7B3944-ABC6-A7D9-718F-01FD04F1D54A}"/>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03</a:t>
            </a:r>
          </a:p>
        </p:txBody>
      </p:sp>
    </p:spTree>
    <p:extLst>
      <p:ext uri="{BB962C8B-B14F-4D97-AF65-F5344CB8AC3E}">
        <p14:creationId xmlns:p14="http://schemas.microsoft.com/office/powerpoint/2010/main" val="2913200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8933C931-80D4-CE57-BAE8-657D17DFDA1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B115D61-A3BA-08EF-53EF-94869793C699}"/>
              </a:ext>
            </a:extLst>
          </p:cNvPr>
          <p:cNvSpPr>
            <a:spLocks noGrp="1"/>
          </p:cNvSpPr>
          <p:nvPr>
            <p:ph type="subTitle" idx="1"/>
          </p:nvPr>
        </p:nvSpPr>
        <p:spPr>
          <a:xfrm>
            <a:off x="6890197" y="1571224"/>
            <a:ext cx="4989202" cy="3554568"/>
          </a:xfrm>
        </p:spPr>
        <p:txBody>
          <a:bodyPr>
            <a:normAutofit/>
          </a:bodyPr>
          <a:lstStyle/>
          <a:p>
            <a:pPr algn="just"/>
            <a:r>
              <a:rPr lang="en-US" sz="2800" b="1" dirty="0">
                <a:latin typeface="Garamond" panose="02020404030301010803" pitchFamily="18" charset="0"/>
              </a:rPr>
              <a:t>The Revenue chart shows that the menu item that performed the best was Muffin, closely followed by Cappuccino and Ice tea. </a:t>
            </a:r>
          </a:p>
          <a:p>
            <a:pPr algn="just"/>
            <a:r>
              <a:rPr lang="en-US" sz="2800" b="1" dirty="0">
                <a:latin typeface="Garamond" panose="02020404030301010803" pitchFamily="18" charset="0"/>
              </a:rPr>
              <a:t>Sandwich sold the least, doing slightly better than Croissant.</a:t>
            </a:r>
          </a:p>
        </p:txBody>
      </p:sp>
      <p:graphicFrame>
        <p:nvGraphicFramePr>
          <p:cNvPr id="2" name="Chart 1">
            <a:extLst>
              <a:ext uri="{FF2B5EF4-FFF2-40B4-BE49-F238E27FC236}">
                <a16:creationId xmlns:a16="http://schemas.microsoft.com/office/drawing/2014/main" id="{189B1763-3CF2-3543-82D8-0B32987A3B85}"/>
              </a:ext>
            </a:extLst>
          </p:cNvPr>
          <p:cNvGraphicFramePr>
            <a:graphicFrameLocks/>
          </p:cNvGraphicFramePr>
          <p:nvPr>
            <p:extLst>
              <p:ext uri="{D42A27DB-BD31-4B8C-83A1-F6EECF244321}">
                <p14:modId xmlns:p14="http://schemas.microsoft.com/office/powerpoint/2010/main" val="3976582664"/>
              </p:ext>
            </p:extLst>
          </p:nvPr>
        </p:nvGraphicFramePr>
        <p:xfrm>
          <a:off x="669701" y="978794"/>
          <a:ext cx="5782614" cy="4708777"/>
        </p:xfrm>
        <a:graphic>
          <a:graphicData uri="http://schemas.openxmlformats.org/drawingml/2006/chart">
            <c:chart xmlns:c="http://schemas.openxmlformats.org/drawingml/2006/chart" xmlns:r="http://schemas.openxmlformats.org/officeDocument/2006/relationships" r:id="rId2"/>
          </a:graphicData>
        </a:graphic>
      </p:graphicFrame>
      <p:grpSp>
        <p:nvGrpSpPr>
          <p:cNvPr id="6" name="Group 5">
            <a:extLst>
              <a:ext uri="{FF2B5EF4-FFF2-40B4-BE49-F238E27FC236}">
                <a16:creationId xmlns:a16="http://schemas.microsoft.com/office/drawing/2014/main" id="{34097A10-8BE3-A64D-BA21-56CE84CC98EC}"/>
              </a:ext>
            </a:extLst>
          </p:cNvPr>
          <p:cNvGrpSpPr/>
          <p:nvPr/>
        </p:nvGrpSpPr>
        <p:grpSpPr>
          <a:xfrm>
            <a:off x="10924791" y="5687572"/>
            <a:ext cx="1267209" cy="1170428"/>
            <a:chOff x="10924791" y="5687572"/>
            <a:chExt cx="1267209" cy="1170428"/>
          </a:xfrm>
        </p:grpSpPr>
        <p:pic>
          <p:nvPicPr>
            <p:cNvPr id="8" name="Picture 7">
              <a:extLst>
                <a:ext uri="{FF2B5EF4-FFF2-40B4-BE49-F238E27FC236}">
                  <a16:creationId xmlns:a16="http://schemas.microsoft.com/office/drawing/2014/main" id="{5D8F72DD-559C-CAA5-C49A-3BED496C3BA5}"/>
                </a:ext>
              </a:extLst>
            </p:cNvPr>
            <p:cNvPicPr>
              <a:picLocks noChangeAspect="1"/>
            </p:cNvPicPr>
            <p:nvPr/>
          </p:nvPicPr>
          <p:blipFill>
            <a:blip r:embed="rId3"/>
            <a:stretch>
              <a:fillRect/>
            </a:stretch>
          </p:blipFill>
          <p:spPr>
            <a:xfrm>
              <a:off x="10924791" y="5687572"/>
              <a:ext cx="954607" cy="1059943"/>
            </a:xfrm>
            <a:prstGeom prst="rect">
              <a:avLst/>
            </a:prstGeom>
          </p:spPr>
        </p:pic>
        <p:sp>
          <p:nvSpPr>
            <p:cNvPr id="5" name="Subtitle 2">
              <a:extLst>
                <a:ext uri="{FF2B5EF4-FFF2-40B4-BE49-F238E27FC236}">
                  <a16:creationId xmlns:a16="http://schemas.microsoft.com/office/drawing/2014/main" id="{D09019CA-1D9B-A9C8-2ED8-6139C421C7D6}"/>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7" name="TextBox 6">
            <a:extLst>
              <a:ext uri="{FF2B5EF4-FFF2-40B4-BE49-F238E27FC236}">
                <a16:creationId xmlns:a16="http://schemas.microsoft.com/office/drawing/2014/main" id="{CF8B74AE-C828-537C-AD98-46DA81F690AE}"/>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04</a:t>
            </a:r>
          </a:p>
        </p:txBody>
      </p:sp>
    </p:spTree>
    <p:extLst>
      <p:ext uri="{BB962C8B-B14F-4D97-AF65-F5344CB8AC3E}">
        <p14:creationId xmlns:p14="http://schemas.microsoft.com/office/powerpoint/2010/main" val="558926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6EF83FC5-E0D4-6764-67AE-2BCE98F5B50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0B10DF4-093F-783B-9107-8EE5EF75293C}"/>
              </a:ext>
            </a:extLst>
          </p:cNvPr>
          <p:cNvSpPr>
            <a:spLocks noGrp="1"/>
          </p:cNvSpPr>
          <p:nvPr>
            <p:ph type="subTitle" idx="1"/>
          </p:nvPr>
        </p:nvSpPr>
        <p:spPr>
          <a:xfrm>
            <a:off x="7685287" y="1068946"/>
            <a:ext cx="4194111" cy="4391696"/>
          </a:xfrm>
        </p:spPr>
        <p:txBody>
          <a:bodyPr>
            <a:normAutofit fontScale="85000" lnSpcReduction="10000"/>
          </a:bodyPr>
          <a:lstStyle/>
          <a:p>
            <a:pPr algn="just"/>
            <a:r>
              <a:rPr lang="en-US" sz="2800" b="1" dirty="0">
                <a:latin typeface="Garamond" panose="02020404030301010803" pitchFamily="18" charset="0"/>
              </a:rPr>
              <a:t>A look at the customer spending pattern reveals that Females (54%) spent slightly more than the Males (46%). </a:t>
            </a:r>
          </a:p>
          <a:p>
            <a:pPr algn="just"/>
            <a:r>
              <a:rPr lang="en-US" sz="2800" b="1" dirty="0">
                <a:latin typeface="Garamond" panose="02020404030301010803" pitchFamily="18" charset="0"/>
              </a:rPr>
              <a:t>The Age bracket that spent the most in the five age brackets between 18 to 65 years was the 28 – 37 years bracket with 22%. </a:t>
            </a:r>
          </a:p>
          <a:p>
            <a:pPr algn="just"/>
            <a:r>
              <a:rPr lang="en-US" sz="2800" b="1" dirty="0">
                <a:latin typeface="Garamond" panose="02020404030301010803" pitchFamily="18" charset="0"/>
              </a:rPr>
              <a:t>In the 6 Menu items, Muffin was the most preferred by the customers. While Sandwich was the least preferred.</a:t>
            </a:r>
          </a:p>
        </p:txBody>
      </p:sp>
      <p:graphicFrame>
        <p:nvGraphicFramePr>
          <p:cNvPr id="6" name="Chart 5">
            <a:extLst>
              <a:ext uri="{FF2B5EF4-FFF2-40B4-BE49-F238E27FC236}">
                <a16:creationId xmlns:a16="http://schemas.microsoft.com/office/drawing/2014/main" id="{BCC5F29A-F866-CD4E-A194-BC496737DCB9}"/>
              </a:ext>
            </a:extLst>
          </p:cNvPr>
          <p:cNvGraphicFramePr>
            <a:graphicFrameLocks/>
          </p:cNvGraphicFramePr>
          <p:nvPr>
            <p:extLst>
              <p:ext uri="{D42A27DB-BD31-4B8C-83A1-F6EECF244321}">
                <p14:modId xmlns:p14="http://schemas.microsoft.com/office/powerpoint/2010/main" val="4160330482"/>
              </p:ext>
            </p:extLst>
          </p:nvPr>
        </p:nvGraphicFramePr>
        <p:xfrm>
          <a:off x="312602" y="734096"/>
          <a:ext cx="3310762" cy="439169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044AE36B-35BD-784A-93BE-B1A85F0559AE}"/>
              </a:ext>
            </a:extLst>
          </p:cNvPr>
          <p:cNvGraphicFramePr>
            <a:graphicFrameLocks/>
          </p:cNvGraphicFramePr>
          <p:nvPr>
            <p:extLst>
              <p:ext uri="{D42A27DB-BD31-4B8C-83A1-F6EECF244321}">
                <p14:modId xmlns:p14="http://schemas.microsoft.com/office/powerpoint/2010/main" val="2090086141"/>
              </p:ext>
            </p:extLst>
          </p:nvPr>
        </p:nvGraphicFramePr>
        <p:xfrm>
          <a:off x="4243588" y="930854"/>
          <a:ext cx="3441700" cy="240566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8">
            <a:extLst>
              <a:ext uri="{FF2B5EF4-FFF2-40B4-BE49-F238E27FC236}">
                <a16:creationId xmlns:a16="http://schemas.microsoft.com/office/drawing/2014/main" id="{AC88A8B1-ADBC-7B46-B91A-CBF8D9A4549E}"/>
              </a:ext>
            </a:extLst>
          </p:cNvPr>
          <p:cNvGraphicFramePr>
            <a:graphicFrameLocks/>
          </p:cNvGraphicFramePr>
          <p:nvPr>
            <p:extLst>
              <p:ext uri="{D42A27DB-BD31-4B8C-83A1-F6EECF244321}">
                <p14:modId xmlns:p14="http://schemas.microsoft.com/office/powerpoint/2010/main" val="4011975549"/>
              </p:ext>
            </p:extLst>
          </p:nvPr>
        </p:nvGraphicFramePr>
        <p:xfrm>
          <a:off x="3903370" y="3647402"/>
          <a:ext cx="3781916" cy="2727640"/>
        </p:xfrm>
        <a:graphic>
          <a:graphicData uri="http://schemas.openxmlformats.org/drawingml/2006/chart">
            <c:chart xmlns:c="http://schemas.openxmlformats.org/drawingml/2006/chart" xmlns:r="http://schemas.openxmlformats.org/officeDocument/2006/relationships" r:id="rId4"/>
          </a:graphicData>
        </a:graphic>
      </p:graphicFrame>
      <p:grpSp>
        <p:nvGrpSpPr>
          <p:cNvPr id="10" name="Group 9">
            <a:extLst>
              <a:ext uri="{FF2B5EF4-FFF2-40B4-BE49-F238E27FC236}">
                <a16:creationId xmlns:a16="http://schemas.microsoft.com/office/drawing/2014/main" id="{B38C1C18-167F-9692-778F-DE00E6D9D976}"/>
              </a:ext>
            </a:extLst>
          </p:cNvPr>
          <p:cNvGrpSpPr/>
          <p:nvPr/>
        </p:nvGrpSpPr>
        <p:grpSpPr>
          <a:xfrm>
            <a:off x="10924791" y="5687572"/>
            <a:ext cx="1267209" cy="1170428"/>
            <a:chOff x="10924791" y="5687572"/>
            <a:chExt cx="1267209" cy="1170428"/>
          </a:xfrm>
        </p:grpSpPr>
        <p:pic>
          <p:nvPicPr>
            <p:cNvPr id="11" name="Picture 10">
              <a:extLst>
                <a:ext uri="{FF2B5EF4-FFF2-40B4-BE49-F238E27FC236}">
                  <a16:creationId xmlns:a16="http://schemas.microsoft.com/office/drawing/2014/main" id="{EFA23132-3925-239E-F7BA-2C28FCE6E4BC}"/>
                </a:ext>
              </a:extLst>
            </p:cNvPr>
            <p:cNvPicPr>
              <a:picLocks noChangeAspect="1"/>
            </p:cNvPicPr>
            <p:nvPr/>
          </p:nvPicPr>
          <p:blipFill>
            <a:blip r:embed="rId5"/>
            <a:stretch>
              <a:fillRect/>
            </a:stretch>
          </p:blipFill>
          <p:spPr>
            <a:xfrm>
              <a:off x="10924791" y="5687572"/>
              <a:ext cx="954607" cy="1059943"/>
            </a:xfrm>
            <a:prstGeom prst="rect">
              <a:avLst/>
            </a:prstGeom>
          </p:spPr>
        </p:pic>
        <p:sp>
          <p:nvSpPr>
            <p:cNvPr id="12" name="Subtitle 2">
              <a:extLst>
                <a:ext uri="{FF2B5EF4-FFF2-40B4-BE49-F238E27FC236}">
                  <a16:creationId xmlns:a16="http://schemas.microsoft.com/office/drawing/2014/main" id="{650ABE4E-19B7-2614-BCD1-1B1A5E859556}"/>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13" name="TextBox 12">
            <a:extLst>
              <a:ext uri="{FF2B5EF4-FFF2-40B4-BE49-F238E27FC236}">
                <a16:creationId xmlns:a16="http://schemas.microsoft.com/office/drawing/2014/main" id="{40F5D32A-6D9E-CFAF-4904-0614242274B2}"/>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05</a:t>
            </a:r>
          </a:p>
        </p:txBody>
      </p:sp>
    </p:spTree>
    <p:extLst>
      <p:ext uri="{BB962C8B-B14F-4D97-AF65-F5344CB8AC3E}">
        <p14:creationId xmlns:p14="http://schemas.microsoft.com/office/powerpoint/2010/main" val="1821567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D6B5EA11-2308-0786-AEB7-D5F08846925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FE70A37-B3C2-335E-4C3A-2D9634ED9284}"/>
              </a:ext>
            </a:extLst>
          </p:cNvPr>
          <p:cNvSpPr>
            <a:spLocks noGrp="1"/>
          </p:cNvSpPr>
          <p:nvPr>
            <p:ph type="subTitle" idx="1"/>
          </p:nvPr>
        </p:nvSpPr>
        <p:spPr>
          <a:xfrm>
            <a:off x="6890197" y="1571224"/>
            <a:ext cx="4989202" cy="3554568"/>
          </a:xfrm>
        </p:spPr>
        <p:txBody>
          <a:bodyPr>
            <a:normAutofit fontScale="92500" lnSpcReduction="10000"/>
          </a:bodyPr>
          <a:lstStyle/>
          <a:p>
            <a:pPr algn="just"/>
            <a:r>
              <a:rPr lang="en-US" sz="2800" b="1" dirty="0">
                <a:latin typeface="Garamond" panose="02020404030301010803" pitchFamily="18" charset="0"/>
              </a:rPr>
              <a:t>The Stock management indicates that Juice Concentrate had the best optimal utilization. Lemon had a fairly optimal utilization, with an over-stock of 13.</a:t>
            </a:r>
          </a:p>
          <a:p>
            <a:pPr algn="just"/>
            <a:r>
              <a:rPr lang="en-US" sz="2800" b="1" dirty="0">
                <a:latin typeface="Garamond" panose="02020404030301010803" pitchFamily="18" charset="0"/>
              </a:rPr>
              <a:t>Milk and Croissant Dough suffered the worst Stock management with an availability shortfall of 79 and 74 respectively.</a:t>
            </a:r>
          </a:p>
        </p:txBody>
      </p:sp>
      <p:graphicFrame>
        <p:nvGraphicFramePr>
          <p:cNvPr id="7" name="Chart 6">
            <a:extLst>
              <a:ext uri="{FF2B5EF4-FFF2-40B4-BE49-F238E27FC236}">
                <a16:creationId xmlns:a16="http://schemas.microsoft.com/office/drawing/2014/main" id="{AB02699F-1224-2044-90EA-683F817B99BB}"/>
              </a:ext>
            </a:extLst>
          </p:cNvPr>
          <p:cNvGraphicFramePr>
            <a:graphicFrameLocks/>
          </p:cNvGraphicFramePr>
          <p:nvPr>
            <p:extLst>
              <p:ext uri="{D42A27DB-BD31-4B8C-83A1-F6EECF244321}">
                <p14:modId xmlns:p14="http://schemas.microsoft.com/office/powerpoint/2010/main" val="2348296717"/>
              </p:ext>
            </p:extLst>
          </p:nvPr>
        </p:nvGraphicFramePr>
        <p:xfrm>
          <a:off x="335800" y="566670"/>
          <a:ext cx="6438487" cy="5510280"/>
        </p:xfrm>
        <a:graphic>
          <a:graphicData uri="http://schemas.openxmlformats.org/drawingml/2006/chart">
            <c:chart xmlns:c="http://schemas.openxmlformats.org/drawingml/2006/chart" xmlns:r="http://schemas.openxmlformats.org/officeDocument/2006/relationships" r:id="rId2"/>
          </a:graphicData>
        </a:graphic>
      </p:graphicFrame>
      <p:grpSp>
        <p:nvGrpSpPr>
          <p:cNvPr id="9" name="Group 8">
            <a:extLst>
              <a:ext uri="{FF2B5EF4-FFF2-40B4-BE49-F238E27FC236}">
                <a16:creationId xmlns:a16="http://schemas.microsoft.com/office/drawing/2014/main" id="{71CB3635-FC2F-DE14-E5F0-8887398AB966}"/>
              </a:ext>
            </a:extLst>
          </p:cNvPr>
          <p:cNvGrpSpPr/>
          <p:nvPr/>
        </p:nvGrpSpPr>
        <p:grpSpPr>
          <a:xfrm>
            <a:off x="10924791" y="5687572"/>
            <a:ext cx="1267209" cy="1170428"/>
            <a:chOff x="10924791" y="5687572"/>
            <a:chExt cx="1267209" cy="1170428"/>
          </a:xfrm>
        </p:grpSpPr>
        <p:pic>
          <p:nvPicPr>
            <p:cNvPr id="10" name="Picture 9">
              <a:extLst>
                <a:ext uri="{FF2B5EF4-FFF2-40B4-BE49-F238E27FC236}">
                  <a16:creationId xmlns:a16="http://schemas.microsoft.com/office/drawing/2014/main" id="{BFF3000F-6D09-FD6D-7CAE-62A640A66FEE}"/>
                </a:ext>
              </a:extLst>
            </p:cNvPr>
            <p:cNvPicPr>
              <a:picLocks noChangeAspect="1"/>
            </p:cNvPicPr>
            <p:nvPr/>
          </p:nvPicPr>
          <p:blipFill>
            <a:blip r:embed="rId3"/>
            <a:stretch>
              <a:fillRect/>
            </a:stretch>
          </p:blipFill>
          <p:spPr>
            <a:xfrm>
              <a:off x="10924791" y="5687572"/>
              <a:ext cx="954607" cy="1059943"/>
            </a:xfrm>
            <a:prstGeom prst="rect">
              <a:avLst/>
            </a:prstGeom>
          </p:spPr>
        </p:pic>
        <p:sp>
          <p:nvSpPr>
            <p:cNvPr id="11" name="Subtitle 2">
              <a:extLst>
                <a:ext uri="{FF2B5EF4-FFF2-40B4-BE49-F238E27FC236}">
                  <a16:creationId xmlns:a16="http://schemas.microsoft.com/office/drawing/2014/main" id="{BD0BC2D5-88E9-1C6C-6B83-DECAAEF96400}"/>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12" name="TextBox 11">
            <a:extLst>
              <a:ext uri="{FF2B5EF4-FFF2-40B4-BE49-F238E27FC236}">
                <a16:creationId xmlns:a16="http://schemas.microsoft.com/office/drawing/2014/main" id="{F9E7C06B-4247-45A7-CC74-177ADED3AFC9}"/>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06</a:t>
            </a:r>
          </a:p>
        </p:txBody>
      </p:sp>
    </p:spTree>
    <p:extLst>
      <p:ext uri="{BB962C8B-B14F-4D97-AF65-F5344CB8AC3E}">
        <p14:creationId xmlns:p14="http://schemas.microsoft.com/office/powerpoint/2010/main" val="341031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1D35C6E2-429D-9009-D266-FCD3438D4BE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FC6A4E7-3DD7-D523-62AD-088F76E643CA}"/>
              </a:ext>
            </a:extLst>
          </p:cNvPr>
          <p:cNvSpPr>
            <a:spLocks noGrp="1"/>
          </p:cNvSpPr>
          <p:nvPr>
            <p:ph type="subTitle" idx="1"/>
          </p:nvPr>
        </p:nvSpPr>
        <p:spPr>
          <a:xfrm>
            <a:off x="6890197" y="1571224"/>
            <a:ext cx="4989202" cy="3554568"/>
          </a:xfrm>
        </p:spPr>
        <p:txBody>
          <a:bodyPr>
            <a:normAutofit fontScale="92500" lnSpcReduction="20000"/>
          </a:bodyPr>
          <a:lstStyle/>
          <a:p>
            <a:pPr algn="just"/>
            <a:r>
              <a:rPr lang="en-US" sz="2800" b="1" dirty="0">
                <a:latin typeface="Garamond" panose="02020404030301010803" pitchFamily="18" charset="0"/>
              </a:rPr>
              <a:t>A substantial number  of the  customers gave no rating.</a:t>
            </a:r>
          </a:p>
          <a:p>
            <a:pPr algn="just"/>
            <a:r>
              <a:rPr lang="en-US" sz="2800" b="1" dirty="0">
                <a:latin typeface="Garamond" panose="02020404030301010803" pitchFamily="18" charset="0"/>
              </a:rPr>
              <a:t>The Customer Ratings across the timeline indicates a prevalent rating of 3 stars for those that rated. </a:t>
            </a:r>
          </a:p>
          <a:p>
            <a:pPr algn="just"/>
            <a:r>
              <a:rPr lang="en-US" sz="2800" b="1" dirty="0">
                <a:latin typeface="Garamond" panose="02020404030301010803" pitchFamily="18" charset="0"/>
              </a:rPr>
              <a:t>With the number of Customers who rated above 3 and below 3 almost evenly split.</a:t>
            </a:r>
          </a:p>
        </p:txBody>
      </p:sp>
      <p:graphicFrame>
        <p:nvGraphicFramePr>
          <p:cNvPr id="5" name="Chart 4">
            <a:extLst>
              <a:ext uri="{FF2B5EF4-FFF2-40B4-BE49-F238E27FC236}">
                <a16:creationId xmlns:a16="http://schemas.microsoft.com/office/drawing/2014/main" id="{A9EB9C3C-39CA-FE4C-BBF6-C401CBDE823B}"/>
              </a:ext>
            </a:extLst>
          </p:cNvPr>
          <p:cNvGraphicFramePr>
            <a:graphicFrameLocks/>
          </p:cNvGraphicFramePr>
          <p:nvPr>
            <p:extLst>
              <p:ext uri="{D42A27DB-BD31-4B8C-83A1-F6EECF244321}">
                <p14:modId xmlns:p14="http://schemas.microsoft.com/office/powerpoint/2010/main" val="1055780750"/>
              </p:ext>
            </p:extLst>
          </p:nvPr>
        </p:nvGraphicFramePr>
        <p:xfrm>
          <a:off x="468379" y="888643"/>
          <a:ext cx="5211204" cy="4533363"/>
        </p:xfrm>
        <a:graphic>
          <a:graphicData uri="http://schemas.openxmlformats.org/drawingml/2006/chart">
            <c:chart xmlns:c="http://schemas.openxmlformats.org/drawingml/2006/chart" xmlns:r="http://schemas.openxmlformats.org/officeDocument/2006/relationships" r:id="rId2"/>
          </a:graphicData>
        </a:graphic>
      </p:graphicFrame>
      <p:grpSp>
        <p:nvGrpSpPr>
          <p:cNvPr id="6" name="Group 5">
            <a:extLst>
              <a:ext uri="{FF2B5EF4-FFF2-40B4-BE49-F238E27FC236}">
                <a16:creationId xmlns:a16="http://schemas.microsoft.com/office/drawing/2014/main" id="{3ED3463C-66C4-BBEA-3244-B9D0721D3B8E}"/>
              </a:ext>
            </a:extLst>
          </p:cNvPr>
          <p:cNvGrpSpPr/>
          <p:nvPr/>
        </p:nvGrpSpPr>
        <p:grpSpPr>
          <a:xfrm>
            <a:off x="10924791" y="5687572"/>
            <a:ext cx="1267209" cy="1170428"/>
            <a:chOff x="10924791" y="5687572"/>
            <a:chExt cx="1267209" cy="1170428"/>
          </a:xfrm>
        </p:grpSpPr>
        <p:pic>
          <p:nvPicPr>
            <p:cNvPr id="7" name="Picture 6">
              <a:extLst>
                <a:ext uri="{FF2B5EF4-FFF2-40B4-BE49-F238E27FC236}">
                  <a16:creationId xmlns:a16="http://schemas.microsoft.com/office/drawing/2014/main" id="{379A3FEA-B447-625E-25FF-2816DAD05BE2}"/>
                </a:ext>
              </a:extLst>
            </p:cNvPr>
            <p:cNvPicPr>
              <a:picLocks noChangeAspect="1"/>
            </p:cNvPicPr>
            <p:nvPr/>
          </p:nvPicPr>
          <p:blipFill>
            <a:blip r:embed="rId3"/>
            <a:stretch>
              <a:fillRect/>
            </a:stretch>
          </p:blipFill>
          <p:spPr>
            <a:xfrm>
              <a:off x="10924791" y="5687572"/>
              <a:ext cx="954607" cy="1059943"/>
            </a:xfrm>
            <a:prstGeom prst="rect">
              <a:avLst/>
            </a:prstGeom>
          </p:spPr>
        </p:pic>
        <p:sp>
          <p:nvSpPr>
            <p:cNvPr id="9" name="Subtitle 2">
              <a:extLst>
                <a:ext uri="{FF2B5EF4-FFF2-40B4-BE49-F238E27FC236}">
                  <a16:creationId xmlns:a16="http://schemas.microsoft.com/office/drawing/2014/main" id="{B98D034E-17EB-90C1-0615-6D4DDFA47043}"/>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10" name="TextBox 9">
            <a:extLst>
              <a:ext uri="{FF2B5EF4-FFF2-40B4-BE49-F238E27FC236}">
                <a16:creationId xmlns:a16="http://schemas.microsoft.com/office/drawing/2014/main" id="{564A3840-91EE-E581-8900-71AD28889243}"/>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07</a:t>
            </a:r>
          </a:p>
        </p:txBody>
      </p:sp>
    </p:spTree>
    <p:extLst>
      <p:ext uri="{BB962C8B-B14F-4D97-AF65-F5344CB8AC3E}">
        <p14:creationId xmlns:p14="http://schemas.microsoft.com/office/powerpoint/2010/main" val="2027806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C1B08559-45B7-F31D-4B29-8A55549BF5C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2CBB892-FEF6-1EA6-D0AB-2A3CCA076521}"/>
              </a:ext>
            </a:extLst>
          </p:cNvPr>
          <p:cNvSpPr>
            <a:spLocks noGrp="1"/>
          </p:cNvSpPr>
          <p:nvPr>
            <p:ph type="subTitle" idx="1"/>
          </p:nvPr>
        </p:nvSpPr>
        <p:spPr>
          <a:xfrm>
            <a:off x="678869" y="4299586"/>
            <a:ext cx="8915892" cy="2373964"/>
          </a:xfrm>
        </p:spPr>
        <p:txBody>
          <a:bodyPr>
            <a:normAutofit fontScale="85000" lnSpcReduction="10000"/>
          </a:bodyPr>
          <a:lstStyle/>
          <a:p>
            <a:pPr algn="just"/>
            <a:r>
              <a:rPr lang="en-US" sz="2800" b="1" dirty="0">
                <a:latin typeface="Garamond" panose="02020404030301010803" pitchFamily="18" charset="0"/>
              </a:rPr>
              <a:t>The Employee performance chart indicates that Megan White is the top performing employee followed by Elizabeth Johnson.</a:t>
            </a:r>
          </a:p>
          <a:p>
            <a:pPr algn="just"/>
            <a:r>
              <a:rPr lang="en-US" sz="2800" b="1" dirty="0">
                <a:latin typeface="Garamond" panose="02020404030301010803" pitchFamily="18" charset="0"/>
              </a:rPr>
              <a:t>The least performing employee is Elizabeth Green who did slightly better than Linda Lee.</a:t>
            </a:r>
          </a:p>
          <a:p>
            <a:pPr algn="just"/>
            <a:r>
              <a:rPr lang="en-US" sz="2800" b="1" dirty="0">
                <a:latin typeface="Garamond" panose="02020404030301010803" pitchFamily="18" charset="0"/>
              </a:rPr>
              <a:t>The best performing Location is the Airport while Uptown is the location that performed the least.</a:t>
            </a:r>
          </a:p>
        </p:txBody>
      </p:sp>
      <p:graphicFrame>
        <p:nvGraphicFramePr>
          <p:cNvPr id="2" name="Chart 1">
            <a:extLst>
              <a:ext uri="{FF2B5EF4-FFF2-40B4-BE49-F238E27FC236}">
                <a16:creationId xmlns:a16="http://schemas.microsoft.com/office/drawing/2014/main" id="{CCE73CA7-97C0-834D-BECE-4F325098AF33}"/>
              </a:ext>
            </a:extLst>
          </p:cNvPr>
          <p:cNvGraphicFramePr>
            <a:graphicFrameLocks/>
          </p:cNvGraphicFramePr>
          <p:nvPr>
            <p:extLst>
              <p:ext uri="{D42A27DB-BD31-4B8C-83A1-F6EECF244321}">
                <p14:modId xmlns:p14="http://schemas.microsoft.com/office/powerpoint/2010/main" val="644166007"/>
              </p:ext>
            </p:extLst>
          </p:nvPr>
        </p:nvGraphicFramePr>
        <p:xfrm>
          <a:off x="312600" y="360608"/>
          <a:ext cx="3551061" cy="37326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1F32EF4F-EB03-8A4D-80DB-BCE6DC8BBCA2}"/>
              </a:ext>
            </a:extLst>
          </p:cNvPr>
          <p:cNvGraphicFramePr>
            <a:graphicFrameLocks/>
          </p:cNvGraphicFramePr>
          <p:nvPr>
            <p:extLst>
              <p:ext uri="{D42A27DB-BD31-4B8C-83A1-F6EECF244321}">
                <p14:modId xmlns:p14="http://schemas.microsoft.com/office/powerpoint/2010/main" val="3937298407"/>
              </p:ext>
            </p:extLst>
          </p:nvPr>
        </p:nvGraphicFramePr>
        <p:xfrm>
          <a:off x="4012669" y="360608"/>
          <a:ext cx="3701776" cy="37326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993BDE47-5CC5-AE43-9A8B-C229FB872FEF}"/>
              </a:ext>
            </a:extLst>
          </p:cNvPr>
          <p:cNvGraphicFramePr>
            <a:graphicFrameLocks/>
          </p:cNvGraphicFramePr>
          <p:nvPr>
            <p:extLst>
              <p:ext uri="{D42A27DB-BD31-4B8C-83A1-F6EECF244321}">
                <p14:modId xmlns:p14="http://schemas.microsoft.com/office/powerpoint/2010/main" val="1006631343"/>
              </p:ext>
            </p:extLst>
          </p:nvPr>
        </p:nvGraphicFramePr>
        <p:xfrm>
          <a:off x="7714445" y="360608"/>
          <a:ext cx="4477555" cy="3938978"/>
        </p:xfrm>
        <a:graphic>
          <a:graphicData uri="http://schemas.openxmlformats.org/drawingml/2006/chart">
            <c:chart xmlns:c="http://schemas.openxmlformats.org/drawingml/2006/chart" xmlns:r="http://schemas.openxmlformats.org/officeDocument/2006/relationships" r:id="rId4"/>
          </a:graphicData>
        </a:graphic>
      </p:graphicFrame>
      <p:grpSp>
        <p:nvGrpSpPr>
          <p:cNvPr id="9" name="Group 8">
            <a:extLst>
              <a:ext uri="{FF2B5EF4-FFF2-40B4-BE49-F238E27FC236}">
                <a16:creationId xmlns:a16="http://schemas.microsoft.com/office/drawing/2014/main" id="{F4CA6658-46E0-66C8-17C0-F551ED790BBD}"/>
              </a:ext>
            </a:extLst>
          </p:cNvPr>
          <p:cNvGrpSpPr/>
          <p:nvPr/>
        </p:nvGrpSpPr>
        <p:grpSpPr>
          <a:xfrm>
            <a:off x="10924791" y="5687572"/>
            <a:ext cx="1267209" cy="1170428"/>
            <a:chOff x="10924791" y="5687572"/>
            <a:chExt cx="1267209" cy="1170428"/>
          </a:xfrm>
        </p:grpSpPr>
        <p:pic>
          <p:nvPicPr>
            <p:cNvPr id="10" name="Picture 9">
              <a:extLst>
                <a:ext uri="{FF2B5EF4-FFF2-40B4-BE49-F238E27FC236}">
                  <a16:creationId xmlns:a16="http://schemas.microsoft.com/office/drawing/2014/main" id="{15EEE167-B809-B81A-4370-76B256FEE808}"/>
                </a:ext>
              </a:extLst>
            </p:cNvPr>
            <p:cNvPicPr>
              <a:picLocks noChangeAspect="1"/>
            </p:cNvPicPr>
            <p:nvPr/>
          </p:nvPicPr>
          <p:blipFill>
            <a:blip r:embed="rId5"/>
            <a:stretch>
              <a:fillRect/>
            </a:stretch>
          </p:blipFill>
          <p:spPr>
            <a:xfrm>
              <a:off x="10924791" y="5687572"/>
              <a:ext cx="954607" cy="1059943"/>
            </a:xfrm>
            <a:prstGeom prst="rect">
              <a:avLst/>
            </a:prstGeom>
          </p:spPr>
        </p:pic>
        <p:sp>
          <p:nvSpPr>
            <p:cNvPr id="11" name="Subtitle 2">
              <a:extLst>
                <a:ext uri="{FF2B5EF4-FFF2-40B4-BE49-F238E27FC236}">
                  <a16:creationId xmlns:a16="http://schemas.microsoft.com/office/drawing/2014/main" id="{F49B562C-F7C1-62A6-7BFE-D05985571216}"/>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12" name="TextBox 11">
            <a:extLst>
              <a:ext uri="{FF2B5EF4-FFF2-40B4-BE49-F238E27FC236}">
                <a16:creationId xmlns:a16="http://schemas.microsoft.com/office/drawing/2014/main" id="{074AE863-174E-BFCB-20C6-8571BF7121F7}"/>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08</a:t>
            </a:r>
          </a:p>
        </p:txBody>
      </p:sp>
    </p:spTree>
    <p:extLst>
      <p:ext uri="{BB962C8B-B14F-4D97-AF65-F5344CB8AC3E}">
        <p14:creationId xmlns:p14="http://schemas.microsoft.com/office/powerpoint/2010/main" val="860097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E3BBCDB8-37FA-75B3-6862-2CAF973BFA4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ACFAE63-22E1-7B7B-3784-0501BD060108}"/>
              </a:ext>
            </a:extLst>
          </p:cNvPr>
          <p:cNvSpPr>
            <a:spLocks noGrp="1"/>
          </p:cNvSpPr>
          <p:nvPr>
            <p:ph type="subTitle" idx="1"/>
          </p:nvPr>
        </p:nvSpPr>
        <p:spPr>
          <a:xfrm>
            <a:off x="875763" y="1566662"/>
            <a:ext cx="10596851" cy="4001424"/>
          </a:xfrm>
        </p:spPr>
        <p:txBody>
          <a:bodyPr>
            <a:normAutofit lnSpcReduction="10000"/>
          </a:bodyPr>
          <a:lstStyle/>
          <a:p>
            <a:pPr marL="457200" indent="-457200" algn="just">
              <a:buFont typeface="Arial" panose="020B0604020202020204" pitchFamily="34" charset="0"/>
              <a:buChar char="•"/>
            </a:pPr>
            <a:r>
              <a:rPr lang="en-US" sz="2800" b="1" dirty="0">
                <a:latin typeface="Garamond" panose="02020404030301010803" pitchFamily="18" charset="0"/>
              </a:rPr>
              <a:t>The top selling menus are Muffin, Cappuccino and Ice Tea.</a:t>
            </a:r>
          </a:p>
          <a:p>
            <a:pPr marL="457200" indent="-457200" algn="just">
              <a:buFont typeface="Arial" panose="020B0604020202020204" pitchFamily="34" charset="0"/>
              <a:buChar char="•"/>
            </a:pPr>
            <a:r>
              <a:rPr lang="en-US" sz="2800" b="1" dirty="0">
                <a:latin typeface="Garamond" panose="02020404030301010803" pitchFamily="18" charset="0"/>
              </a:rPr>
              <a:t>By demography, the customer age group that spend the most are those between the ages of 28 and 37 years. While the females spend slightly more than males.</a:t>
            </a:r>
          </a:p>
          <a:p>
            <a:pPr marL="457200" indent="-457200" algn="just">
              <a:buFont typeface="Arial" panose="020B0604020202020204" pitchFamily="34" charset="0"/>
              <a:buChar char="•"/>
            </a:pPr>
            <a:r>
              <a:rPr lang="en-US" sz="2800" b="1" dirty="0">
                <a:latin typeface="Garamond" panose="02020404030301010803" pitchFamily="18" charset="0"/>
              </a:rPr>
              <a:t>Milk, Croissant Dough, and Iced Tea Bags are the stock items suffering from under-stocking.</a:t>
            </a:r>
          </a:p>
          <a:p>
            <a:pPr marL="457200" indent="-457200" algn="just">
              <a:buFont typeface="Arial" panose="020B0604020202020204" pitchFamily="34" charset="0"/>
              <a:buChar char="•"/>
            </a:pPr>
            <a:r>
              <a:rPr lang="en-US" sz="2800" b="1" dirty="0">
                <a:latin typeface="Garamond" panose="02020404030301010803" pitchFamily="18" charset="0"/>
              </a:rPr>
              <a:t>At 3/5, the customer ratings are below standard for a café.</a:t>
            </a:r>
          </a:p>
          <a:p>
            <a:pPr marL="457200" indent="-457200" algn="just">
              <a:buFont typeface="Arial" panose="020B0604020202020204" pitchFamily="34" charset="0"/>
              <a:buChar char="•"/>
            </a:pPr>
            <a:r>
              <a:rPr lang="en-US" sz="2800" b="1" dirty="0">
                <a:latin typeface="Garamond" panose="02020404030301010803" pitchFamily="18" charset="0"/>
              </a:rPr>
              <a:t>The number of employees performing below par is high. </a:t>
            </a:r>
          </a:p>
          <a:p>
            <a:pPr algn="just"/>
            <a:endParaRPr lang="en-US" sz="2800" b="1" dirty="0">
              <a:latin typeface="Garamond" panose="02020404030301010803" pitchFamily="18" charset="0"/>
            </a:endParaRPr>
          </a:p>
        </p:txBody>
      </p:sp>
      <p:sp>
        <p:nvSpPr>
          <p:cNvPr id="4" name="Subtitle 2">
            <a:extLst>
              <a:ext uri="{FF2B5EF4-FFF2-40B4-BE49-F238E27FC236}">
                <a16:creationId xmlns:a16="http://schemas.microsoft.com/office/drawing/2014/main" id="{787F88B6-6419-D90E-F0BE-E7D61E0A6013}"/>
              </a:ext>
            </a:extLst>
          </p:cNvPr>
          <p:cNvSpPr txBox="1">
            <a:spLocks/>
          </p:cNvSpPr>
          <p:nvPr/>
        </p:nvSpPr>
        <p:spPr>
          <a:xfrm>
            <a:off x="669700" y="502277"/>
            <a:ext cx="9362942" cy="643944"/>
          </a:xfrm>
          <a:prstGeom prst="rect">
            <a:avLst/>
          </a:prstGeom>
          <a:noFill/>
        </p:spPr>
        <p:txBody>
          <a:bodyPr vert="horz" lIns="91440" tIns="45720" rIns="91440" bIns="45720" rtlCol="0">
            <a:normAutofit fontScale="85000"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buNone/>
            </a:pPr>
            <a:r>
              <a:rPr lang="en-US" sz="3200" b="1" dirty="0">
                <a:solidFill>
                  <a:schemeClr val="bg1"/>
                </a:solidFill>
                <a:effectLst/>
                <a:latin typeface="Book Antiqua" panose="02040602050305030304" pitchFamily="18" charset="0"/>
                <a:ea typeface="+mn-ea"/>
                <a:cs typeface="+mn-cs"/>
              </a:rPr>
              <a:t>Key Findings, Trends, and Business Recommendations.</a:t>
            </a:r>
            <a:endParaRPr lang="en-US" sz="2800" dirty="0">
              <a:effectLst/>
              <a:latin typeface="Helvetica" pitchFamily="2" charset="0"/>
            </a:endParaRPr>
          </a:p>
        </p:txBody>
      </p:sp>
      <p:grpSp>
        <p:nvGrpSpPr>
          <p:cNvPr id="6" name="Group 5">
            <a:extLst>
              <a:ext uri="{FF2B5EF4-FFF2-40B4-BE49-F238E27FC236}">
                <a16:creationId xmlns:a16="http://schemas.microsoft.com/office/drawing/2014/main" id="{90EEC0EE-A07D-5D1C-0810-8BA52121F269}"/>
              </a:ext>
            </a:extLst>
          </p:cNvPr>
          <p:cNvGrpSpPr/>
          <p:nvPr/>
        </p:nvGrpSpPr>
        <p:grpSpPr>
          <a:xfrm>
            <a:off x="10924791" y="5687572"/>
            <a:ext cx="1267209" cy="1170428"/>
            <a:chOff x="10924791" y="5687572"/>
            <a:chExt cx="1267209" cy="1170428"/>
          </a:xfrm>
        </p:grpSpPr>
        <p:pic>
          <p:nvPicPr>
            <p:cNvPr id="8" name="Picture 7">
              <a:extLst>
                <a:ext uri="{FF2B5EF4-FFF2-40B4-BE49-F238E27FC236}">
                  <a16:creationId xmlns:a16="http://schemas.microsoft.com/office/drawing/2014/main" id="{61DAE7A0-2086-6B76-B4B9-CA6C7E9789E0}"/>
                </a:ext>
              </a:extLst>
            </p:cNvPr>
            <p:cNvPicPr>
              <a:picLocks noChangeAspect="1"/>
            </p:cNvPicPr>
            <p:nvPr/>
          </p:nvPicPr>
          <p:blipFill>
            <a:blip r:embed="rId2"/>
            <a:stretch>
              <a:fillRect/>
            </a:stretch>
          </p:blipFill>
          <p:spPr>
            <a:xfrm>
              <a:off x="10924791" y="5687572"/>
              <a:ext cx="954607" cy="1059943"/>
            </a:xfrm>
            <a:prstGeom prst="rect">
              <a:avLst/>
            </a:prstGeom>
          </p:spPr>
        </p:pic>
        <p:sp>
          <p:nvSpPr>
            <p:cNvPr id="5" name="Subtitle 2">
              <a:extLst>
                <a:ext uri="{FF2B5EF4-FFF2-40B4-BE49-F238E27FC236}">
                  <a16:creationId xmlns:a16="http://schemas.microsoft.com/office/drawing/2014/main" id="{AD5818E1-95B8-8818-0DCA-B601C381970F}"/>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7" name="TextBox 6">
            <a:extLst>
              <a:ext uri="{FF2B5EF4-FFF2-40B4-BE49-F238E27FC236}">
                <a16:creationId xmlns:a16="http://schemas.microsoft.com/office/drawing/2014/main" id="{C9785361-A49F-FF7F-00DC-3DD0B2FE796C}"/>
              </a:ext>
            </a:extLst>
          </p:cNvPr>
          <p:cNvSpPr txBox="1"/>
          <p:nvPr/>
        </p:nvSpPr>
        <p:spPr>
          <a:xfrm>
            <a:off x="875763" y="1197330"/>
            <a:ext cx="1587321" cy="369332"/>
          </a:xfrm>
          <a:prstGeom prst="rect">
            <a:avLst/>
          </a:prstGeom>
          <a:noFill/>
        </p:spPr>
        <p:txBody>
          <a:bodyPr wrap="square">
            <a:spAutoFit/>
          </a:bodyPr>
          <a:lstStyle/>
          <a:p>
            <a:r>
              <a:rPr lang="en-US" sz="1800" b="1" dirty="0">
                <a:solidFill>
                  <a:schemeClr val="bg1"/>
                </a:solidFill>
                <a:effectLst/>
                <a:latin typeface="Book Antiqua" panose="02040602050305030304" pitchFamily="18" charset="0"/>
                <a:ea typeface="+mn-ea"/>
                <a:cs typeface="+mn-cs"/>
              </a:rPr>
              <a:t>Key Findings</a:t>
            </a:r>
            <a:endParaRPr lang="en-US" dirty="0"/>
          </a:p>
        </p:txBody>
      </p:sp>
      <p:sp>
        <p:nvSpPr>
          <p:cNvPr id="11" name="TextBox 10">
            <a:extLst>
              <a:ext uri="{FF2B5EF4-FFF2-40B4-BE49-F238E27FC236}">
                <a16:creationId xmlns:a16="http://schemas.microsoft.com/office/drawing/2014/main" id="{808CD4C9-3970-5278-CCFC-DB2469B2695D}"/>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09</a:t>
            </a:r>
          </a:p>
        </p:txBody>
      </p:sp>
    </p:spTree>
    <p:extLst>
      <p:ext uri="{BB962C8B-B14F-4D97-AF65-F5344CB8AC3E}">
        <p14:creationId xmlns:p14="http://schemas.microsoft.com/office/powerpoint/2010/main" val="1209108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E359C2F8-104B-2744-D6B4-67ECCC3A241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152217C-D290-0651-6C7E-8474BE1003A9}"/>
              </a:ext>
            </a:extLst>
          </p:cNvPr>
          <p:cNvSpPr>
            <a:spLocks noGrp="1"/>
          </p:cNvSpPr>
          <p:nvPr>
            <p:ph type="subTitle" idx="1"/>
          </p:nvPr>
        </p:nvSpPr>
        <p:spPr>
          <a:xfrm>
            <a:off x="805243" y="808329"/>
            <a:ext cx="10596851" cy="994713"/>
          </a:xfrm>
        </p:spPr>
        <p:txBody>
          <a:bodyPr>
            <a:normAutofit fontScale="92500" lnSpcReduction="20000"/>
          </a:bodyPr>
          <a:lstStyle/>
          <a:p>
            <a:pPr marL="457200" indent="-457200" algn="just">
              <a:buFont typeface="Arial" panose="020B0604020202020204" pitchFamily="34" charset="0"/>
              <a:buChar char="•"/>
            </a:pPr>
            <a:r>
              <a:rPr lang="en-US" b="1" dirty="0">
                <a:latin typeface="Garamond" panose="02020404030301010803" pitchFamily="18" charset="0"/>
              </a:rPr>
              <a:t>The Total Sales is low at the end of the year, during the months of October, November, and December. It is also trending low around February and June.</a:t>
            </a:r>
          </a:p>
          <a:p>
            <a:pPr marL="457200" indent="-457200" algn="just">
              <a:buFont typeface="Arial" panose="020B0604020202020204" pitchFamily="34" charset="0"/>
              <a:buChar char="•"/>
            </a:pPr>
            <a:r>
              <a:rPr lang="en-US" b="1" dirty="0">
                <a:latin typeface="Garamond" panose="02020404030301010803" pitchFamily="18" charset="0"/>
              </a:rPr>
              <a:t>It is worrisome to see that a a large number of customers gave no rating.</a:t>
            </a:r>
          </a:p>
          <a:p>
            <a:pPr algn="just"/>
            <a:endParaRPr lang="en-US" b="1" dirty="0">
              <a:latin typeface="Garamond" panose="02020404030301010803" pitchFamily="18" charset="0"/>
            </a:endParaRPr>
          </a:p>
        </p:txBody>
      </p:sp>
      <p:grpSp>
        <p:nvGrpSpPr>
          <p:cNvPr id="6" name="Group 5">
            <a:extLst>
              <a:ext uri="{FF2B5EF4-FFF2-40B4-BE49-F238E27FC236}">
                <a16:creationId xmlns:a16="http://schemas.microsoft.com/office/drawing/2014/main" id="{09C46B29-70E1-2476-195C-48486C8A15B2}"/>
              </a:ext>
            </a:extLst>
          </p:cNvPr>
          <p:cNvGrpSpPr/>
          <p:nvPr/>
        </p:nvGrpSpPr>
        <p:grpSpPr>
          <a:xfrm>
            <a:off x="10924791" y="5687572"/>
            <a:ext cx="1267209" cy="1170428"/>
            <a:chOff x="10924791" y="5687572"/>
            <a:chExt cx="1267209" cy="1170428"/>
          </a:xfrm>
        </p:grpSpPr>
        <p:pic>
          <p:nvPicPr>
            <p:cNvPr id="8" name="Picture 7">
              <a:extLst>
                <a:ext uri="{FF2B5EF4-FFF2-40B4-BE49-F238E27FC236}">
                  <a16:creationId xmlns:a16="http://schemas.microsoft.com/office/drawing/2014/main" id="{058410C5-FC31-8434-FBAF-9926D72F7387}"/>
                </a:ext>
              </a:extLst>
            </p:cNvPr>
            <p:cNvPicPr>
              <a:picLocks noChangeAspect="1"/>
            </p:cNvPicPr>
            <p:nvPr/>
          </p:nvPicPr>
          <p:blipFill>
            <a:blip r:embed="rId2"/>
            <a:stretch>
              <a:fillRect/>
            </a:stretch>
          </p:blipFill>
          <p:spPr>
            <a:xfrm>
              <a:off x="10924791" y="5687572"/>
              <a:ext cx="954607" cy="1059943"/>
            </a:xfrm>
            <a:prstGeom prst="rect">
              <a:avLst/>
            </a:prstGeom>
          </p:spPr>
        </p:pic>
        <p:sp>
          <p:nvSpPr>
            <p:cNvPr id="5" name="Subtitle 2">
              <a:extLst>
                <a:ext uri="{FF2B5EF4-FFF2-40B4-BE49-F238E27FC236}">
                  <a16:creationId xmlns:a16="http://schemas.microsoft.com/office/drawing/2014/main" id="{0FBD9A04-A002-5296-DFF3-8C9A5E95B788}"/>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7" name="TextBox 6">
            <a:extLst>
              <a:ext uri="{FF2B5EF4-FFF2-40B4-BE49-F238E27FC236}">
                <a16:creationId xmlns:a16="http://schemas.microsoft.com/office/drawing/2014/main" id="{C67FD49E-9E73-706F-2F75-89B1E40759DC}"/>
              </a:ext>
            </a:extLst>
          </p:cNvPr>
          <p:cNvSpPr txBox="1"/>
          <p:nvPr/>
        </p:nvSpPr>
        <p:spPr>
          <a:xfrm>
            <a:off x="785610" y="384620"/>
            <a:ext cx="1081826" cy="369332"/>
          </a:xfrm>
          <a:prstGeom prst="rect">
            <a:avLst/>
          </a:prstGeom>
          <a:noFill/>
        </p:spPr>
        <p:txBody>
          <a:bodyPr wrap="square">
            <a:spAutoFit/>
          </a:bodyPr>
          <a:lstStyle/>
          <a:p>
            <a:r>
              <a:rPr lang="en-US" sz="1800" b="1" dirty="0">
                <a:solidFill>
                  <a:schemeClr val="bg1"/>
                </a:solidFill>
                <a:effectLst/>
                <a:latin typeface="Book Antiqua" panose="02040602050305030304" pitchFamily="18" charset="0"/>
                <a:ea typeface="+mn-ea"/>
                <a:cs typeface="+mn-cs"/>
              </a:rPr>
              <a:t>Trends</a:t>
            </a:r>
            <a:endParaRPr lang="en-US" dirty="0"/>
          </a:p>
        </p:txBody>
      </p:sp>
      <p:sp>
        <p:nvSpPr>
          <p:cNvPr id="9" name="TextBox 8">
            <a:extLst>
              <a:ext uri="{FF2B5EF4-FFF2-40B4-BE49-F238E27FC236}">
                <a16:creationId xmlns:a16="http://schemas.microsoft.com/office/drawing/2014/main" id="{291C8974-56EA-87BA-5FE1-A0B7B31FEF2B}"/>
              </a:ext>
            </a:extLst>
          </p:cNvPr>
          <p:cNvSpPr txBox="1"/>
          <p:nvPr/>
        </p:nvSpPr>
        <p:spPr>
          <a:xfrm>
            <a:off x="785610" y="1672753"/>
            <a:ext cx="2215168" cy="369332"/>
          </a:xfrm>
          <a:prstGeom prst="rect">
            <a:avLst/>
          </a:prstGeom>
          <a:noFill/>
        </p:spPr>
        <p:txBody>
          <a:bodyPr wrap="square">
            <a:spAutoFit/>
          </a:bodyPr>
          <a:lstStyle/>
          <a:p>
            <a:pPr algn="just"/>
            <a:r>
              <a:rPr lang="en-US" sz="1800" b="1" dirty="0">
                <a:solidFill>
                  <a:schemeClr val="bg1"/>
                </a:solidFill>
                <a:effectLst/>
                <a:latin typeface="Book Antiqua" panose="02040602050305030304" pitchFamily="18" charset="0"/>
                <a:ea typeface="+mn-ea"/>
                <a:cs typeface="+mn-cs"/>
              </a:rPr>
              <a:t>Recommendation</a:t>
            </a:r>
            <a:endParaRPr lang="en-US" sz="1800" b="1" dirty="0">
              <a:latin typeface="Garamond" panose="02020404030301010803" pitchFamily="18" charset="0"/>
            </a:endParaRPr>
          </a:p>
        </p:txBody>
      </p:sp>
      <p:sp>
        <p:nvSpPr>
          <p:cNvPr id="11" name="TextBox 10">
            <a:extLst>
              <a:ext uri="{FF2B5EF4-FFF2-40B4-BE49-F238E27FC236}">
                <a16:creationId xmlns:a16="http://schemas.microsoft.com/office/drawing/2014/main" id="{2B5DEEEE-BDF5-F3FC-B6F3-103155EE00B1}"/>
              </a:ext>
            </a:extLst>
          </p:cNvPr>
          <p:cNvSpPr txBox="1"/>
          <p:nvPr/>
        </p:nvSpPr>
        <p:spPr>
          <a:xfrm>
            <a:off x="805243" y="2031251"/>
            <a:ext cx="10687004" cy="4093428"/>
          </a:xfrm>
          <a:prstGeom prst="rect">
            <a:avLst/>
          </a:prstGeom>
          <a:noFill/>
        </p:spPr>
        <p:txBody>
          <a:bodyPr wrap="square">
            <a:spAutoFit/>
          </a:bodyPr>
          <a:lstStyle/>
          <a:p>
            <a:pPr marL="457200" indent="-457200" algn="just">
              <a:buFont typeface="Arial" panose="020B0604020202020204" pitchFamily="34" charset="0"/>
              <a:buChar char="•"/>
            </a:pPr>
            <a:r>
              <a:rPr lang="en-US" sz="2000" b="1" dirty="0">
                <a:latin typeface="Garamond" panose="02020404030301010803" pitchFamily="18" charset="0"/>
              </a:rPr>
              <a:t>The least selling menus Croissant, Sandwich and Latte, should be improved in terms of service delivery so that their Total sales can be at par with their counterparts.</a:t>
            </a:r>
          </a:p>
          <a:p>
            <a:pPr marL="457200" indent="-457200" algn="just">
              <a:buFont typeface="Arial" panose="020B0604020202020204" pitchFamily="34" charset="0"/>
              <a:buChar char="•"/>
            </a:pPr>
            <a:r>
              <a:rPr lang="en-US" sz="2000" b="1" dirty="0">
                <a:latin typeface="Garamond" panose="02020404030301010803" pitchFamily="18" charset="0"/>
              </a:rPr>
              <a:t>The oldest customers age bracket is between 58 and 65 years, they may be spending the least because of the current ambience of the locations. An improvement in the interior and sitting for comfort is required to attract and make them linger for longer period during their visits.</a:t>
            </a:r>
          </a:p>
          <a:p>
            <a:pPr marL="457200" indent="-457200" algn="just">
              <a:buFont typeface="Arial" panose="020B0604020202020204" pitchFamily="34" charset="0"/>
              <a:buChar char="•"/>
            </a:pPr>
            <a:r>
              <a:rPr lang="en-US" sz="2000" b="1" dirty="0">
                <a:latin typeface="Garamond" panose="02020404030301010803" pitchFamily="18" charset="0"/>
              </a:rPr>
              <a:t>The stocking of Milk, Croissant Dough, and Iced Tea Bags need to be improved. An inventory software should be acquired for all locations to alert the managers when stocks are running low.</a:t>
            </a:r>
          </a:p>
          <a:p>
            <a:pPr marL="457200" indent="-457200" algn="just">
              <a:buFont typeface="Arial" panose="020B0604020202020204" pitchFamily="34" charset="0"/>
              <a:buChar char="•"/>
            </a:pPr>
            <a:r>
              <a:rPr lang="en-US" sz="2000" b="1" dirty="0">
                <a:latin typeface="Garamond" panose="02020404030301010803" pitchFamily="18" charset="0"/>
              </a:rPr>
              <a:t>An improved staff welfare is needed to motivate the employees to do well. Those already performing well should be celebrated and rewarded. These will foster a healthy competition among them.</a:t>
            </a:r>
          </a:p>
          <a:p>
            <a:pPr marL="457200" indent="-457200" algn="just">
              <a:buFont typeface="Arial" panose="020B0604020202020204" pitchFamily="34" charset="0"/>
              <a:buChar char="•"/>
            </a:pPr>
            <a:r>
              <a:rPr lang="en-US" sz="2000" b="1" dirty="0">
                <a:latin typeface="Garamond" panose="02020404030301010803" pitchFamily="18" charset="0"/>
              </a:rPr>
              <a:t>Meeting the above recommendations will encourage all customers to leave a review and make them increase their ratings from the current average of 3/5.</a:t>
            </a:r>
          </a:p>
        </p:txBody>
      </p:sp>
      <p:sp>
        <p:nvSpPr>
          <p:cNvPr id="12" name="TextBox 11">
            <a:extLst>
              <a:ext uri="{FF2B5EF4-FFF2-40B4-BE49-F238E27FC236}">
                <a16:creationId xmlns:a16="http://schemas.microsoft.com/office/drawing/2014/main" id="{3B827353-6886-23F2-33BF-E5BDA723EC61}"/>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10</a:t>
            </a:r>
          </a:p>
        </p:txBody>
      </p:sp>
    </p:spTree>
    <p:extLst>
      <p:ext uri="{BB962C8B-B14F-4D97-AF65-F5344CB8AC3E}">
        <p14:creationId xmlns:p14="http://schemas.microsoft.com/office/powerpoint/2010/main" val="7450468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schemeClr>
        </a:solidFill>
        <a:effectLst/>
      </p:bgPr>
    </p:bg>
    <p:spTree>
      <p:nvGrpSpPr>
        <p:cNvPr id="1" name="">
          <a:extLst>
            <a:ext uri="{FF2B5EF4-FFF2-40B4-BE49-F238E27FC236}">
              <a16:creationId xmlns:a16="http://schemas.microsoft.com/office/drawing/2014/main" id="{0CE79D91-8BDD-9F1D-6E96-A17214186180}"/>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1A4D2CDB-C323-EFBE-C2E4-F3CC51120ACC}"/>
              </a:ext>
            </a:extLst>
          </p:cNvPr>
          <p:cNvGrpSpPr/>
          <p:nvPr/>
        </p:nvGrpSpPr>
        <p:grpSpPr>
          <a:xfrm>
            <a:off x="10924791" y="5687572"/>
            <a:ext cx="1267209" cy="1170428"/>
            <a:chOff x="10924791" y="5687572"/>
            <a:chExt cx="1267209" cy="1170428"/>
          </a:xfrm>
        </p:grpSpPr>
        <p:pic>
          <p:nvPicPr>
            <p:cNvPr id="10" name="Picture 9">
              <a:extLst>
                <a:ext uri="{FF2B5EF4-FFF2-40B4-BE49-F238E27FC236}">
                  <a16:creationId xmlns:a16="http://schemas.microsoft.com/office/drawing/2014/main" id="{F72D54BB-0779-6955-652F-41B54959C598}"/>
                </a:ext>
              </a:extLst>
            </p:cNvPr>
            <p:cNvPicPr>
              <a:picLocks noChangeAspect="1"/>
            </p:cNvPicPr>
            <p:nvPr/>
          </p:nvPicPr>
          <p:blipFill>
            <a:blip r:embed="rId2"/>
            <a:stretch>
              <a:fillRect/>
            </a:stretch>
          </p:blipFill>
          <p:spPr>
            <a:xfrm>
              <a:off x="10924791" y="5687572"/>
              <a:ext cx="954607" cy="1059943"/>
            </a:xfrm>
            <a:prstGeom prst="rect">
              <a:avLst/>
            </a:prstGeom>
          </p:spPr>
        </p:pic>
        <p:sp>
          <p:nvSpPr>
            <p:cNvPr id="11" name="Subtitle 2">
              <a:extLst>
                <a:ext uri="{FF2B5EF4-FFF2-40B4-BE49-F238E27FC236}">
                  <a16:creationId xmlns:a16="http://schemas.microsoft.com/office/drawing/2014/main" id="{C28C315D-1771-9743-AE26-A9BBB741EB88}"/>
                </a:ext>
              </a:extLst>
            </p:cNvPr>
            <p:cNvSpPr txBox="1">
              <a:spLocks/>
            </p:cNvSpPr>
            <p:nvPr/>
          </p:nvSpPr>
          <p:spPr>
            <a:xfrm>
              <a:off x="10924792" y="6613302"/>
              <a:ext cx="1267208" cy="244698"/>
            </a:xfrm>
            <a:prstGeom prst="rect">
              <a:avLst/>
            </a:prstGeom>
            <a:noFill/>
          </p:spPr>
          <p:txBody>
            <a:bodyPr vert="horz" lIns="91440" tIns="45720" rIns="91440" bIns="45720" rtlCol="0">
              <a:normAutofit lnSpcReduction="10000"/>
            </a:bodyPr>
            <a:lstStyle>
              <a:lvl1pPr marL="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75000"/>
                      <a:lumOff val="25000"/>
                    </a:schemeClr>
                  </a:solidFill>
                  <a:latin typeface="+mn-lt"/>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20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l"/>
              <a:r>
                <a:rPr lang="en-US" sz="1050" b="1" dirty="0">
                  <a:solidFill>
                    <a:srgbClr val="FF0000"/>
                  </a:solidFill>
                  <a:effectLst/>
                  <a:latin typeface="APPLE CHANCERY" panose="03020702040506060504" pitchFamily="66" charset="-79"/>
                  <a:cs typeface="APPLE CHANCERY" panose="03020702040506060504" pitchFamily="66" charset="-79"/>
                </a:rPr>
                <a:t>Café Harmony</a:t>
              </a:r>
              <a:endParaRPr lang="en-US" sz="1050" dirty="0">
                <a:solidFill>
                  <a:srgbClr val="FF0000"/>
                </a:solidFill>
                <a:latin typeface="Apple Chancery" panose="03020702040506060504" pitchFamily="66" charset="-79"/>
                <a:cs typeface="Apple Chancery" panose="03020702040506060504" pitchFamily="66" charset="-79"/>
              </a:endParaRPr>
            </a:p>
          </p:txBody>
        </p:sp>
      </p:grpSp>
      <p:sp>
        <p:nvSpPr>
          <p:cNvPr id="12" name="TextBox 11">
            <a:extLst>
              <a:ext uri="{FF2B5EF4-FFF2-40B4-BE49-F238E27FC236}">
                <a16:creationId xmlns:a16="http://schemas.microsoft.com/office/drawing/2014/main" id="{5F59175E-C9F7-3EE6-4962-FA67885A3D38}"/>
              </a:ext>
            </a:extLst>
          </p:cNvPr>
          <p:cNvSpPr txBox="1"/>
          <p:nvPr/>
        </p:nvSpPr>
        <p:spPr>
          <a:xfrm>
            <a:off x="162281" y="6263289"/>
            <a:ext cx="623329" cy="369332"/>
          </a:xfrm>
          <a:prstGeom prst="rect">
            <a:avLst/>
          </a:prstGeom>
          <a:noFill/>
        </p:spPr>
        <p:txBody>
          <a:bodyPr wrap="square" rtlCol="0">
            <a:spAutoFit/>
          </a:bodyPr>
          <a:lstStyle/>
          <a:p>
            <a:r>
              <a:rPr lang="en-US" dirty="0">
                <a:solidFill>
                  <a:srgbClr val="C00000"/>
                </a:solidFill>
                <a:latin typeface="Garamond" panose="02020404030301010803" pitchFamily="18" charset="0"/>
              </a:rPr>
              <a:t>06</a:t>
            </a:r>
          </a:p>
        </p:txBody>
      </p:sp>
      <p:pic>
        <p:nvPicPr>
          <p:cNvPr id="4" name="Picture 3">
            <a:extLst>
              <a:ext uri="{FF2B5EF4-FFF2-40B4-BE49-F238E27FC236}">
                <a16:creationId xmlns:a16="http://schemas.microsoft.com/office/drawing/2014/main" id="{B6B30C42-4426-665F-0790-2F5DE2D20051}"/>
              </a:ext>
            </a:extLst>
          </p:cNvPr>
          <p:cNvPicPr>
            <a:picLocks noChangeAspect="1"/>
          </p:cNvPicPr>
          <p:nvPr/>
        </p:nvPicPr>
        <p:blipFill>
          <a:blip r:embed="rId3"/>
          <a:stretch>
            <a:fillRect/>
          </a:stretch>
        </p:blipFill>
        <p:spPr>
          <a:xfrm>
            <a:off x="271035" y="225379"/>
            <a:ext cx="10653755" cy="6037909"/>
          </a:xfrm>
          <a:prstGeom prst="rect">
            <a:avLst/>
          </a:prstGeom>
        </p:spPr>
      </p:pic>
      <p:sp>
        <p:nvSpPr>
          <p:cNvPr id="6" name="Subtitle 5">
            <a:extLst>
              <a:ext uri="{FF2B5EF4-FFF2-40B4-BE49-F238E27FC236}">
                <a16:creationId xmlns:a16="http://schemas.microsoft.com/office/drawing/2014/main" id="{98B29459-6768-9989-E61B-2F4D89EE659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0352395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1578</TotalTime>
  <Words>797</Words>
  <Application>Microsoft Macintosh PowerPoint</Application>
  <PresentationFormat>Widescreen</PresentationFormat>
  <Paragraphs>80</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APPLE CHANCERY</vt:lpstr>
      <vt:lpstr>APPLE CHANCERY</vt:lpstr>
      <vt:lpstr>Arial</vt:lpstr>
      <vt:lpstr>Book Antiqua</vt:lpstr>
      <vt:lpstr>Calibri</vt:lpstr>
      <vt:lpstr>Garamond</vt:lpstr>
      <vt:lpstr>Gill Sans MT</vt:lpstr>
      <vt:lpstr>Helvetica</vt:lpstr>
      <vt:lpstr>Parcel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Lighthouse Accounts</dc:creator>
  <cp:lastModifiedBy>Roy A</cp:lastModifiedBy>
  <cp:revision>54</cp:revision>
  <dcterms:created xsi:type="dcterms:W3CDTF">2025-04-15T18:39:21Z</dcterms:created>
  <dcterms:modified xsi:type="dcterms:W3CDTF">2026-03-25T03:52:52Z</dcterms:modified>
</cp:coreProperties>
</file>